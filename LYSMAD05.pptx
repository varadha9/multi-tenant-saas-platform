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ECFEB-84E3-4220-A5CE-42D86BAA395E}" v="327" dt="2026-08-08T15:57:29.969"/>
    <p1510:client id="{D8151712-7ACD-4A8A-85E0-000F0FEDCC06}" v="860" dt="2026-08-08T16:09:28.81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718939" y="962913"/>
            <a:ext cx="13567410" cy="1343660"/>
          </a:xfrm>
          <a:custGeom>
            <a:avLst/>
            <a:gdLst/>
            <a:ahLst/>
            <a:cxnLst/>
            <a:rect l="l" t="t" r="r" b="b"/>
            <a:pathLst>
              <a:path w="13567410" h="1343660">
                <a:moveTo>
                  <a:pt x="13567156" y="0"/>
                </a:moveTo>
                <a:lnTo>
                  <a:pt x="0" y="0"/>
                </a:lnTo>
                <a:lnTo>
                  <a:pt x="0" y="1343278"/>
                </a:lnTo>
                <a:lnTo>
                  <a:pt x="13567156" y="1343278"/>
                </a:lnTo>
                <a:lnTo>
                  <a:pt x="13567156" y="0"/>
                </a:lnTo>
                <a:close/>
              </a:path>
            </a:pathLst>
          </a:custGeom>
          <a:solidFill>
            <a:srgbClr val="2D5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07126" y="62610"/>
            <a:ext cx="9183369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1170" y="944626"/>
            <a:ext cx="11899900" cy="104387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FFF"/>
                </a:solidFill>
                <a:latin typeface="Georgia"/>
                <a:cs typeface="Georgia"/>
              </a:rPr>
              <a:t>DEPARTMENT</a:t>
            </a:r>
            <a:r>
              <a:rPr sz="2700" spc="2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7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2700" spc="1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700" spc="70" dirty="0">
                <a:solidFill>
                  <a:srgbClr val="FFFFFF"/>
                </a:solidFill>
                <a:latin typeface="Georgia"/>
                <a:cs typeface="Georgia"/>
              </a:rPr>
              <a:t>INFORMATION</a:t>
            </a:r>
            <a:r>
              <a:rPr sz="2700" spc="2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700" spc="80" dirty="0">
                <a:solidFill>
                  <a:srgbClr val="FFFFFF"/>
                </a:solidFill>
                <a:latin typeface="Georgia"/>
                <a:cs typeface="Georgia"/>
              </a:rPr>
              <a:t>TECHNOLOGY</a:t>
            </a:r>
            <a:endParaRPr sz="2700">
              <a:latin typeface="Georgia"/>
              <a:cs typeface="Georgia"/>
            </a:endParaRPr>
          </a:p>
          <a:p>
            <a:pPr marL="3175" algn="ctr">
              <a:lnSpc>
                <a:spcPct val="100000"/>
              </a:lnSpc>
              <a:spcBef>
                <a:spcPts val="15"/>
              </a:spcBef>
            </a:pPr>
            <a:r>
              <a:rPr sz="2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Elevare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Rise,</a:t>
            </a: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Uplift</a:t>
            </a:r>
            <a:endParaRPr sz="2000">
              <a:latin typeface="Times New Roman"/>
              <a:cs typeface="Times New Roman"/>
            </a:endParaRPr>
          </a:p>
          <a:p>
            <a:pPr marL="2944495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1.Tanmay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Shinde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Ibrahim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Poonawala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3.Varad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 err="1">
                <a:solidFill>
                  <a:srgbClr val="FFFFFF"/>
                </a:solidFill>
                <a:latin typeface="Times New Roman"/>
                <a:cs typeface="Times New Roman"/>
              </a:rPr>
              <a:t>Mandhare</a:t>
            </a:r>
            <a:endParaRPr sz="2000" err="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662827"/>
            <a:ext cx="4714875" cy="657934"/>
          </a:xfrm>
          <a:custGeom>
            <a:avLst/>
            <a:gdLst/>
            <a:ahLst/>
            <a:cxnLst/>
            <a:rect l="l" t="t" r="r" b="b"/>
            <a:pathLst>
              <a:path w="4714875" h="742950">
                <a:moveTo>
                  <a:pt x="4714873" y="0"/>
                </a:moveTo>
                <a:lnTo>
                  <a:pt x="0" y="0"/>
                </a:lnTo>
                <a:lnTo>
                  <a:pt x="0" y="742505"/>
                </a:lnTo>
                <a:lnTo>
                  <a:pt x="4714873" y="742505"/>
                </a:lnTo>
                <a:lnTo>
                  <a:pt x="4714873" y="0"/>
                </a:lnTo>
                <a:close/>
              </a:path>
            </a:pathLst>
          </a:custGeom>
          <a:solidFill>
            <a:srgbClr val="FDE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8590" y="1813015"/>
            <a:ext cx="4276725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-120" dirty="0">
                <a:latin typeface="Trebuchet MS"/>
                <a:cs typeface="Trebuchet MS"/>
              </a:rPr>
              <a:t>Project</a:t>
            </a:r>
            <a:r>
              <a:rPr sz="2000" b="1" spc="-245" dirty="0">
                <a:latin typeface="Trebuchet MS"/>
                <a:cs typeface="Trebuchet MS"/>
              </a:rPr>
              <a:t> </a:t>
            </a:r>
            <a:r>
              <a:rPr sz="2000" b="1" spc="-10" dirty="0" err="1">
                <a:latin typeface="Trebuchet MS"/>
                <a:cs typeface="Trebuchet MS"/>
              </a:rPr>
              <a:t>Guide:</a:t>
            </a:r>
            <a:r>
              <a:rPr lang="en-US" sz="2000" b="1" spc="-10" dirty="0" err="1">
                <a:latin typeface="Trebuchet MS"/>
              </a:rPr>
              <a:t>Prof</a:t>
            </a:r>
            <a:r>
              <a:rPr lang="en-US" sz="2000" b="1" spc="-10" dirty="0">
                <a:latin typeface="Trebuchet MS"/>
              </a:rPr>
              <a:t>. Reetika </a:t>
            </a:r>
            <a:r>
              <a:rPr lang="en-US" sz="2000" b="1" spc="-10" dirty="0" err="1">
                <a:latin typeface="Trebuchet MS"/>
              </a:rPr>
              <a:t>Kerketta</a:t>
            </a:r>
            <a:endParaRPr sz="2000" b="1" spc="-10" dirty="0" err="1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13311" y="69490"/>
            <a:ext cx="10766084" cy="681911"/>
          </a:xfrm>
          <a:custGeom>
            <a:avLst/>
            <a:gdLst/>
            <a:ahLst/>
            <a:cxnLst/>
            <a:rect l="l" t="t" r="r" b="b"/>
            <a:pathLst>
              <a:path w="11106150" h="672465">
                <a:moveTo>
                  <a:pt x="0" y="672045"/>
                </a:moveTo>
                <a:lnTo>
                  <a:pt x="11105768" y="672045"/>
                </a:lnTo>
                <a:lnTo>
                  <a:pt x="11105768" y="0"/>
                </a:lnTo>
                <a:lnTo>
                  <a:pt x="0" y="0"/>
                </a:lnTo>
                <a:lnTo>
                  <a:pt x="0" y="672045"/>
                </a:lnTo>
                <a:close/>
              </a:path>
            </a:pathLst>
          </a:custGeom>
          <a:solidFill>
            <a:srgbClr val="B3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546540" y="128735"/>
            <a:ext cx="918336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85" dirty="0"/>
              <a:t>MIT</a:t>
            </a:r>
            <a:r>
              <a:rPr spc="790" dirty="0"/>
              <a:t> </a:t>
            </a:r>
            <a:r>
              <a:rPr spc="670" dirty="0"/>
              <a:t>SCHOOL</a:t>
            </a:r>
            <a:r>
              <a:rPr spc="815" dirty="0"/>
              <a:t> </a:t>
            </a:r>
            <a:r>
              <a:rPr spc="570" dirty="0"/>
              <a:t>OF</a:t>
            </a:r>
            <a:r>
              <a:rPr spc="790" dirty="0"/>
              <a:t> </a:t>
            </a:r>
            <a:r>
              <a:rPr spc="545" dirty="0"/>
              <a:t>COMPUTING</a:t>
            </a:r>
          </a:p>
        </p:txBody>
      </p:sp>
      <p:sp>
        <p:nvSpPr>
          <p:cNvPr id="12" name="object 12"/>
          <p:cNvSpPr/>
          <p:nvPr/>
        </p:nvSpPr>
        <p:spPr>
          <a:xfrm>
            <a:off x="15479013" y="-37785"/>
            <a:ext cx="2809875" cy="1038863"/>
          </a:xfrm>
          <a:custGeom>
            <a:avLst/>
            <a:gdLst/>
            <a:ahLst/>
            <a:cxnLst/>
            <a:rect l="l" t="t" r="r" b="b"/>
            <a:pathLst>
              <a:path w="2809875" h="963294">
                <a:moveTo>
                  <a:pt x="2809748" y="0"/>
                </a:moveTo>
                <a:lnTo>
                  <a:pt x="0" y="0"/>
                </a:lnTo>
                <a:lnTo>
                  <a:pt x="0" y="962914"/>
                </a:lnTo>
                <a:lnTo>
                  <a:pt x="2809748" y="962914"/>
                </a:lnTo>
                <a:lnTo>
                  <a:pt x="2809748" y="0"/>
                </a:lnTo>
                <a:close/>
              </a:path>
            </a:pathLst>
          </a:custGeom>
          <a:solidFill>
            <a:srgbClr val="FDE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486411" y="-187"/>
            <a:ext cx="3322009" cy="800219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lnSpc>
                <a:spcPct val="111000"/>
              </a:lnSpc>
              <a:spcBef>
                <a:spcPts val="95"/>
              </a:spcBef>
            </a:pPr>
            <a:r>
              <a:rPr sz="2400" b="1" spc="-60" dirty="0">
                <a:latin typeface="Trebuchet MS"/>
                <a:cs typeface="Trebuchet MS"/>
              </a:rPr>
              <a:t>Class</a:t>
            </a:r>
            <a:r>
              <a:rPr sz="2400" b="1" spc="-170" dirty="0">
                <a:latin typeface="Trebuchet MS"/>
                <a:cs typeface="Trebuchet MS"/>
              </a:rPr>
              <a:t> </a:t>
            </a:r>
            <a:r>
              <a:rPr sz="2400" b="1" spc="-60">
                <a:latin typeface="Trebuchet MS"/>
                <a:cs typeface="Trebuchet MS"/>
              </a:rPr>
              <a:t>:</a:t>
            </a:r>
            <a:r>
              <a:rPr lang="en-US" sz="2400" b="1" spc="-60">
                <a:latin typeface="Trebuchet MS"/>
                <a:cs typeface="Trebuchet MS"/>
              </a:rPr>
              <a:t>LY-</a:t>
            </a:r>
            <a:r>
              <a:rPr lang="en-US" sz="2400" b="1" spc="-20">
                <a:latin typeface="Trebuchet MS"/>
                <a:cs typeface="Trebuchet MS"/>
              </a:rPr>
              <a:t>SMAD</a:t>
            </a:r>
            <a:r>
              <a:rPr sz="2400" b="1" spc="-20" dirty="0">
                <a:latin typeface="Trebuchet MS"/>
                <a:cs typeface="Trebuchet MS"/>
              </a:rPr>
              <a:t> </a:t>
            </a:r>
            <a:r>
              <a:rPr lang="en-US" sz="2400" b="1" spc="-135" err="1"/>
              <a:t>Group:</a:t>
            </a:r>
            <a:r>
              <a:rPr lang="en-US" sz="2400" b="1" spc="-135" dirty="0"/>
              <a:t> LYSMAD05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C40EDB2-E7B3-D43E-A2B7-F05F35F3C2C2}"/>
              </a:ext>
            </a:extLst>
          </p:cNvPr>
          <p:cNvSpPr/>
          <p:nvPr/>
        </p:nvSpPr>
        <p:spPr>
          <a:xfrm>
            <a:off x="143432" y="2824853"/>
            <a:ext cx="4882895" cy="2029968"/>
          </a:xfrm>
          <a:prstGeom prst="rect">
            <a:avLst/>
          </a:prstGeom>
          <a:solidFill>
            <a:srgbClr val="0D1E2E"/>
          </a:solidFill>
          <a:ln w="10160">
            <a:solidFill>
              <a:srgbClr val="3A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2" name="TextBox 15">
            <a:extLst>
              <a:ext uri="{FF2B5EF4-FFF2-40B4-BE49-F238E27FC236}">
                <a16:creationId xmlns:a16="http://schemas.microsoft.com/office/drawing/2014/main" id="{FE69B60B-B5A6-CB6C-1A4C-06C7EB1094F1}"/>
              </a:ext>
            </a:extLst>
          </p:cNvPr>
          <p:cNvSpPr txBox="1"/>
          <p:nvPr/>
        </p:nvSpPr>
        <p:spPr>
          <a:xfrm>
            <a:off x="189152" y="2916294"/>
            <a:ext cx="47914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 i="0">
                <a:solidFill>
                  <a:srgbClr val="FDE499"/>
                </a:solidFill>
              </a:rPr>
              <a:t>PROBLEM STATEMENT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C8534D8C-B05C-66B9-E9F6-F6DECA051959}"/>
              </a:ext>
            </a:extLst>
          </p:cNvPr>
          <p:cNvSpPr/>
          <p:nvPr/>
        </p:nvSpPr>
        <p:spPr>
          <a:xfrm>
            <a:off x="189152" y="3099174"/>
            <a:ext cx="4791455" cy="16459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4" name="TextBox 17">
            <a:extLst>
              <a:ext uri="{FF2B5EF4-FFF2-40B4-BE49-F238E27FC236}">
                <a16:creationId xmlns:a16="http://schemas.microsoft.com/office/drawing/2014/main" id="{97D06A91-7E79-B6C7-4A4A-7D9A0D0024AC}"/>
              </a:ext>
            </a:extLst>
          </p:cNvPr>
          <p:cNvSpPr txBox="1"/>
          <p:nvPr/>
        </p:nvSpPr>
        <p:spPr>
          <a:xfrm>
            <a:off x="189152" y="3172326"/>
            <a:ext cx="479145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 i="0">
                <a:solidFill>
                  <a:srgbClr val="D0DFF5"/>
                </a:solidFill>
              </a:rPr>
              <a:t>India's 63 million small businesses run on WhatsApp groups, shared Excel files, and paper registers.</a:t>
            </a:r>
          </a:p>
          <a:p>
            <a:pPr algn="l"/>
            <a:endParaRPr sz="800" b="0" i="0">
              <a:solidFill>
                <a:srgbClr val="D0DFF5"/>
              </a:solidFill>
            </a:endParaRPr>
          </a:p>
          <a:p>
            <a:pPr algn="l"/>
            <a:r>
              <a:rPr sz="800" b="0" i="0">
                <a:solidFill>
                  <a:srgbClr val="D0DFF5"/>
                </a:solidFill>
              </a:rPr>
              <a:t>Their data is scattered, unsecured, and disconnected. Tools don't talk to each other — a customer exists as separate records in 4 different spreadsheets.</a:t>
            </a:r>
          </a:p>
          <a:p>
            <a:pPr algn="l"/>
            <a:endParaRPr sz="800" b="0" i="0">
              <a:solidFill>
                <a:srgbClr val="D0DFF5"/>
              </a:solidFill>
            </a:endParaRPr>
          </a:p>
          <a:p>
            <a:pPr algn="l"/>
            <a:r>
              <a:rPr sz="800" b="0" i="0">
                <a:solidFill>
                  <a:srgbClr val="D0DFF5"/>
                </a:solidFill>
              </a:rPr>
              <a:t>Enterprise tools like Salesforce cost ₹40,000+/month and take months to set up. There is no affordable, simple, all-in-one solution built for them.</a:t>
            </a:r>
          </a:p>
        </p:txBody>
      </p:sp>
      <p:sp>
        <p:nvSpPr>
          <p:cNvPr id="145" name="TextBox 18">
            <a:extLst>
              <a:ext uri="{FF2B5EF4-FFF2-40B4-BE49-F238E27FC236}">
                <a16:creationId xmlns:a16="http://schemas.microsoft.com/office/drawing/2014/main" id="{65824357-ACF5-5152-98FE-5E62F3AFDB81}"/>
              </a:ext>
            </a:extLst>
          </p:cNvPr>
          <p:cNvSpPr txBox="1"/>
          <p:nvPr/>
        </p:nvSpPr>
        <p:spPr>
          <a:xfrm>
            <a:off x="189152" y="4982838"/>
            <a:ext cx="4791455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 i="0">
                <a:solidFill>
                  <a:schemeClr val="bg1"/>
                </a:solidFill>
              </a:rPr>
              <a:t>USER EMPATHY MAP</a:t>
            </a:r>
            <a:endParaRPr lang="en-US" sz="800" b="1" i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A4F58F1-7D01-A2D4-B722-2D4CED3A5E4F}"/>
              </a:ext>
            </a:extLst>
          </p:cNvPr>
          <p:cNvSpPr/>
          <p:nvPr/>
        </p:nvSpPr>
        <p:spPr>
          <a:xfrm>
            <a:off x="189152" y="5165717"/>
            <a:ext cx="4791455" cy="16459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310AE90-32C4-0943-500D-8B94030ACEF0}"/>
              </a:ext>
            </a:extLst>
          </p:cNvPr>
          <p:cNvSpPr/>
          <p:nvPr/>
        </p:nvSpPr>
        <p:spPr>
          <a:xfrm>
            <a:off x="189152" y="5238870"/>
            <a:ext cx="2350008" cy="1389888"/>
          </a:xfrm>
          <a:prstGeom prst="rect">
            <a:avLst/>
          </a:prstGeom>
          <a:solidFill>
            <a:srgbClr val="FDE499"/>
          </a:solidFill>
          <a:ln w="6350">
            <a:solidFill>
              <a:srgbClr val="FD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8" name="TextBox 21">
            <a:extLst>
              <a:ext uri="{FF2B5EF4-FFF2-40B4-BE49-F238E27FC236}">
                <a16:creationId xmlns:a16="http://schemas.microsoft.com/office/drawing/2014/main" id="{6DA86047-2013-CD33-D4D1-2859485646BB}"/>
              </a:ext>
            </a:extLst>
          </p:cNvPr>
          <p:cNvSpPr txBox="1"/>
          <p:nvPr/>
        </p:nvSpPr>
        <p:spPr>
          <a:xfrm>
            <a:off x="280592" y="5302878"/>
            <a:ext cx="221284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 i="0">
                <a:solidFill>
                  <a:srgbClr val="7A5C00"/>
                </a:solidFill>
              </a:rPr>
              <a:t>💬  SAYS</a:t>
            </a:r>
          </a:p>
        </p:txBody>
      </p:sp>
      <p:sp>
        <p:nvSpPr>
          <p:cNvPr id="149" name="TextBox 22">
            <a:extLst>
              <a:ext uri="{FF2B5EF4-FFF2-40B4-BE49-F238E27FC236}">
                <a16:creationId xmlns:a16="http://schemas.microsoft.com/office/drawing/2014/main" id="{43004ED7-28AC-CD0A-F88F-EB6C5DBFCD53}"/>
              </a:ext>
            </a:extLst>
          </p:cNvPr>
          <p:cNvSpPr txBox="1"/>
          <p:nvPr/>
        </p:nvSpPr>
        <p:spPr>
          <a:xfrm>
            <a:off x="280592" y="5513189"/>
            <a:ext cx="22128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1A1A2E"/>
                </a:solidFill>
              </a:rPr>
              <a:t>"Our stock data is on my manager's laptop."</a:t>
            </a:r>
          </a:p>
          <a:p>
            <a:pPr algn="l"/>
            <a:endParaRPr sz="750" b="0" i="0">
              <a:solidFill>
                <a:srgbClr val="1A1A2E"/>
              </a:solidFill>
            </a:endParaRPr>
          </a:p>
          <a:p>
            <a:pPr algn="l"/>
            <a:r>
              <a:rPr sz="750" b="0" i="0">
                <a:solidFill>
                  <a:srgbClr val="1A1A2E"/>
                </a:solidFill>
              </a:rPr>
              <a:t>"We track leads on WhatsApp — it's a mess."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B27A57E3-1898-C6E1-D759-E1FD0C11EE55}"/>
              </a:ext>
            </a:extLst>
          </p:cNvPr>
          <p:cNvSpPr/>
          <p:nvPr/>
        </p:nvSpPr>
        <p:spPr>
          <a:xfrm>
            <a:off x="2630600" y="5238870"/>
            <a:ext cx="2350008" cy="1389888"/>
          </a:xfrm>
          <a:prstGeom prst="rect">
            <a:avLst/>
          </a:prstGeom>
          <a:solidFill>
            <a:srgbClr val="FFB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1" name="TextBox 24">
            <a:extLst>
              <a:ext uri="{FF2B5EF4-FFF2-40B4-BE49-F238E27FC236}">
                <a16:creationId xmlns:a16="http://schemas.microsoft.com/office/drawing/2014/main" id="{6C533EAF-08A4-96B9-F09C-C3D0BBD61563}"/>
              </a:ext>
            </a:extLst>
          </p:cNvPr>
          <p:cNvSpPr txBox="1"/>
          <p:nvPr/>
        </p:nvSpPr>
        <p:spPr>
          <a:xfrm>
            <a:off x="2722040" y="5302878"/>
            <a:ext cx="221284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 i="0">
                <a:solidFill>
                  <a:srgbClr val="6B0040"/>
                </a:solidFill>
              </a:rPr>
              <a:t>❤️  FEELS</a:t>
            </a:r>
          </a:p>
        </p:txBody>
      </p:sp>
      <p:sp>
        <p:nvSpPr>
          <p:cNvPr id="152" name="TextBox 25">
            <a:extLst>
              <a:ext uri="{FF2B5EF4-FFF2-40B4-BE49-F238E27FC236}">
                <a16:creationId xmlns:a16="http://schemas.microsoft.com/office/drawing/2014/main" id="{D2D84165-25EC-2E32-0EBD-E1C483B7EFF1}"/>
              </a:ext>
            </a:extLst>
          </p:cNvPr>
          <p:cNvSpPr txBox="1"/>
          <p:nvPr/>
        </p:nvSpPr>
        <p:spPr>
          <a:xfrm>
            <a:off x="2722040" y="5513189"/>
            <a:ext cx="22128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1A1A2E"/>
                </a:solidFill>
              </a:rPr>
              <a:t>Frustrated by constant data loss and confusion.</a:t>
            </a:r>
          </a:p>
          <a:p>
            <a:pPr algn="l"/>
            <a:endParaRPr sz="750" b="0" i="0">
              <a:solidFill>
                <a:srgbClr val="1A1A2E"/>
              </a:solidFill>
            </a:endParaRPr>
          </a:p>
          <a:p>
            <a:pPr algn="l"/>
            <a:r>
              <a:rPr sz="750" b="0" i="0">
                <a:solidFill>
                  <a:srgbClr val="1A1A2E"/>
                </a:solidFill>
              </a:rPr>
              <a:t>Anxious about scaling with no proper system.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8F11393-E397-E5A4-B6F6-5007612B8B31}"/>
              </a:ext>
            </a:extLst>
          </p:cNvPr>
          <p:cNvSpPr/>
          <p:nvPr/>
        </p:nvSpPr>
        <p:spPr>
          <a:xfrm>
            <a:off x="189152" y="6720198"/>
            <a:ext cx="2350008" cy="1389888"/>
          </a:xfrm>
          <a:prstGeom prst="rect">
            <a:avLst/>
          </a:prstGeom>
          <a:solidFill>
            <a:srgbClr val="A5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4" name="TextBox 27">
            <a:extLst>
              <a:ext uri="{FF2B5EF4-FFF2-40B4-BE49-F238E27FC236}">
                <a16:creationId xmlns:a16="http://schemas.microsoft.com/office/drawing/2014/main" id="{7E09E514-F9A3-CB9B-EACA-4FBFEDCB5702}"/>
              </a:ext>
            </a:extLst>
          </p:cNvPr>
          <p:cNvSpPr txBox="1"/>
          <p:nvPr/>
        </p:nvSpPr>
        <p:spPr>
          <a:xfrm>
            <a:off x="280592" y="6784206"/>
            <a:ext cx="221284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 i="0">
                <a:solidFill>
                  <a:srgbClr val="1A4A4E"/>
                </a:solidFill>
              </a:rPr>
              <a:t>💭  THINKS</a:t>
            </a:r>
          </a:p>
        </p:txBody>
      </p:sp>
      <p:sp>
        <p:nvSpPr>
          <p:cNvPr id="155" name="TextBox 28">
            <a:extLst>
              <a:ext uri="{FF2B5EF4-FFF2-40B4-BE49-F238E27FC236}">
                <a16:creationId xmlns:a16="http://schemas.microsoft.com/office/drawing/2014/main" id="{C8093E8F-5CAC-51D7-2341-8E78AC1E20B6}"/>
              </a:ext>
            </a:extLst>
          </p:cNvPr>
          <p:cNvSpPr txBox="1"/>
          <p:nvPr/>
        </p:nvSpPr>
        <p:spPr>
          <a:xfrm>
            <a:off x="280592" y="6994518"/>
            <a:ext cx="22128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1A1A2E"/>
                </a:solidFill>
              </a:rPr>
              <a:t>"There must be a better way but it's too expensive."</a:t>
            </a:r>
          </a:p>
          <a:p>
            <a:pPr algn="l"/>
            <a:endParaRPr sz="750" b="0" i="0">
              <a:solidFill>
                <a:srgbClr val="1A1A2E"/>
              </a:solidFill>
            </a:endParaRPr>
          </a:p>
          <a:p>
            <a:pPr algn="l"/>
            <a:r>
              <a:rPr sz="750" b="0" i="0">
                <a:solidFill>
                  <a:srgbClr val="1A1A2E"/>
                </a:solidFill>
              </a:rPr>
              <a:t>"I don't have time to learn complex software."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BBCFB3F-8E17-0CCA-EEF9-E5ADA0BB9512}"/>
              </a:ext>
            </a:extLst>
          </p:cNvPr>
          <p:cNvSpPr/>
          <p:nvPr/>
        </p:nvSpPr>
        <p:spPr>
          <a:xfrm>
            <a:off x="2630600" y="6720198"/>
            <a:ext cx="2350008" cy="1389888"/>
          </a:xfrm>
          <a:prstGeom prst="rect">
            <a:avLst/>
          </a:prstGeom>
          <a:solidFill>
            <a:srgbClr val="D0B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7" name="TextBox 30">
            <a:extLst>
              <a:ext uri="{FF2B5EF4-FFF2-40B4-BE49-F238E27FC236}">
                <a16:creationId xmlns:a16="http://schemas.microsoft.com/office/drawing/2014/main" id="{430AD847-D168-566C-1217-F02A0E5C8A5A}"/>
              </a:ext>
            </a:extLst>
          </p:cNvPr>
          <p:cNvSpPr txBox="1"/>
          <p:nvPr/>
        </p:nvSpPr>
        <p:spPr>
          <a:xfrm>
            <a:off x="2722040" y="6784206"/>
            <a:ext cx="221284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 i="0">
                <a:solidFill>
                  <a:srgbClr val="3D1A7A"/>
                </a:solidFill>
              </a:rPr>
              <a:t>🖐  DOES</a:t>
            </a:r>
          </a:p>
        </p:txBody>
      </p:sp>
      <p:sp>
        <p:nvSpPr>
          <p:cNvPr id="158" name="TextBox 31">
            <a:extLst>
              <a:ext uri="{FF2B5EF4-FFF2-40B4-BE49-F238E27FC236}">
                <a16:creationId xmlns:a16="http://schemas.microsoft.com/office/drawing/2014/main" id="{EA2E57D9-2411-E2A9-DF5C-6A4E9521A466}"/>
              </a:ext>
            </a:extLst>
          </p:cNvPr>
          <p:cNvSpPr txBox="1"/>
          <p:nvPr/>
        </p:nvSpPr>
        <p:spPr>
          <a:xfrm>
            <a:off x="2722040" y="6994518"/>
            <a:ext cx="22128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1A1A2E"/>
                </a:solidFill>
              </a:rPr>
              <a:t>Maintains 4–5 disconnected spreadsheets.</a:t>
            </a:r>
          </a:p>
          <a:p>
            <a:pPr algn="l"/>
            <a:endParaRPr sz="750" b="0" i="0">
              <a:solidFill>
                <a:srgbClr val="1A1A2E"/>
              </a:solidFill>
            </a:endParaRPr>
          </a:p>
          <a:p>
            <a:pPr algn="l"/>
            <a:r>
              <a:rPr sz="750" b="0" i="0">
                <a:solidFill>
                  <a:srgbClr val="1A1A2E"/>
                </a:solidFill>
              </a:rPr>
              <a:t>Uses WhatsApp for operations and customer support.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7C18D73-912E-D114-CEA4-EAD0A2F11E76}"/>
              </a:ext>
            </a:extLst>
          </p:cNvPr>
          <p:cNvSpPr/>
          <p:nvPr/>
        </p:nvSpPr>
        <p:spPr>
          <a:xfrm>
            <a:off x="143432" y="8201526"/>
            <a:ext cx="4882895" cy="1481328"/>
          </a:xfrm>
          <a:prstGeom prst="rect">
            <a:avLst/>
          </a:prstGeom>
          <a:solidFill>
            <a:srgbClr val="EEF2FA"/>
          </a:solidFill>
          <a:ln w="6350">
            <a:solidFill>
              <a:srgbClr val="C5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0" name="TextBox 33">
            <a:extLst>
              <a:ext uri="{FF2B5EF4-FFF2-40B4-BE49-F238E27FC236}">
                <a16:creationId xmlns:a16="http://schemas.microsoft.com/office/drawing/2014/main" id="{6905FB3D-8A80-3ABE-40BD-DEF42CB8E8A0}"/>
              </a:ext>
            </a:extLst>
          </p:cNvPr>
          <p:cNvSpPr txBox="1"/>
          <p:nvPr/>
        </p:nvSpPr>
        <p:spPr>
          <a:xfrm>
            <a:off x="189152" y="8292966"/>
            <a:ext cx="47914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 i="0">
                <a:solidFill>
                  <a:srgbClr val="2E5395"/>
                </a:solidFill>
              </a:rPr>
              <a:t>SCOPE &amp; FEASIBILITY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895894D-6494-6B60-8B7B-26DC08039035}"/>
              </a:ext>
            </a:extLst>
          </p:cNvPr>
          <p:cNvSpPr/>
          <p:nvPr/>
        </p:nvSpPr>
        <p:spPr>
          <a:xfrm>
            <a:off x="189152" y="8475846"/>
            <a:ext cx="4791455" cy="16459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2" name="TextBox 35">
            <a:extLst>
              <a:ext uri="{FF2B5EF4-FFF2-40B4-BE49-F238E27FC236}">
                <a16:creationId xmlns:a16="http://schemas.microsoft.com/office/drawing/2014/main" id="{F9C7C8DC-6805-C615-3F91-46381615D7D1}"/>
              </a:ext>
            </a:extLst>
          </p:cNvPr>
          <p:cNvSpPr txBox="1"/>
          <p:nvPr/>
        </p:nvSpPr>
        <p:spPr>
          <a:xfrm>
            <a:off x="189152" y="8548998"/>
            <a:ext cx="479145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 i="0">
                <a:solidFill>
                  <a:srgbClr val="333344"/>
                </a:solidFill>
              </a:rPr>
              <a:t>Technically feasible using proven technologies — React.js frontend, Node.js + Express backend, PostgreSQL with tenant-scoped queries, and AWS for hosting.</a:t>
            </a:r>
          </a:p>
          <a:p>
            <a:pPr algn="l"/>
            <a:endParaRPr sz="800" b="0" i="0">
              <a:solidFill>
                <a:srgbClr val="333344"/>
              </a:solidFill>
            </a:endParaRPr>
          </a:p>
          <a:p>
            <a:pPr algn="l"/>
            <a:r>
              <a:rPr sz="800" b="0" i="0">
                <a:solidFill>
                  <a:srgbClr val="333344"/>
                </a:solidFill>
              </a:rPr>
              <a:t>MVP covers 4 modules for Indian SMBs. Architecture supports future expansion: additional modules, third-party marketplace, and white-labeling.</a:t>
            </a:r>
          </a:p>
        </p:txBody>
      </p:sp>
      <p:sp>
        <p:nvSpPr>
          <p:cNvPr id="163" name="TextBox 36">
            <a:extLst>
              <a:ext uri="{FF2B5EF4-FFF2-40B4-BE49-F238E27FC236}">
                <a16:creationId xmlns:a16="http://schemas.microsoft.com/office/drawing/2014/main" id="{73D09EB5-6D65-6786-7645-D3C356912DAC}"/>
              </a:ext>
            </a:extLst>
          </p:cNvPr>
          <p:cNvSpPr txBox="1"/>
          <p:nvPr/>
        </p:nvSpPr>
        <p:spPr>
          <a:xfrm>
            <a:off x="5261049" y="2935186"/>
            <a:ext cx="6208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 i="0">
                <a:solidFill>
                  <a:srgbClr val="FDE499"/>
                </a:solidFill>
              </a:rPr>
              <a:t>IDEATION — KEY OBJECTIVES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BFA53A7-A49E-6785-4CFD-B6299DE6CDEA}"/>
              </a:ext>
            </a:extLst>
          </p:cNvPr>
          <p:cNvSpPr/>
          <p:nvPr/>
        </p:nvSpPr>
        <p:spPr>
          <a:xfrm>
            <a:off x="5261049" y="3118066"/>
            <a:ext cx="6208776" cy="16459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0400355C-9295-66D8-86FA-7689C64EDB3E}"/>
              </a:ext>
            </a:extLst>
          </p:cNvPr>
          <p:cNvSpPr/>
          <p:nvPr/>
        </p:nvSpPr>
        <p:spPr>
          <a:xfrm>
            <a:off x="5261049" y="3209506"/>
            <a:ext cx="237744" cy="237744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66" name="TextBox 39">
            <a:extLst>
              <a:ext uri="{FF2B5EF4-FFF2-40B4-BE49-F238E27FC236}">
                <a16:creationId xmlns:a16="http://schemas.microsoft.com/office/drawing/2014/main" id="{691DEAE5-967B-5063-B088-85B0C74CB2F2}"/>
              </a:ext>
            </a:extLst>
          </p:cNvPr>
          <p:cNvSpPr txBox="1"/>
          <p:nvPr/>
        </p:nvSpPr>
        <p:spPr>
          <a:xfrm>
            <a:off x="5562801" y="3191218"/>
            <a:ext cx="590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Multi-Tenant Workspaces</a:t>
            </a:r>
          </a:p>
        </p:txBody>
      </p:sp>
      <p:sp>
        <p:nvSpPr>
          <p:cNvPr id="167" name="TextBox 40">
            <a:extLst>
              <a:ext uri="{FF2B5EF4-FFF2-40B4-BE49-F238E27FC236}">
                <a16:creationId xmlns:a16="http://schemas.microsoft.com/office/drawing/2014/main" id="{A503C5FD-CABB-DB5C-8712-AA781A9E3630}"/>
              </a:ext>
            </a:extLst>
          </p:cNvPr>
          <p:cNvSpPr txBox="1"/>
          <p:nvPr/>
        </p:nvSpPr>
        <p:spPr>
          <a:xfrm>
            <a:off x="5562801" y="3374098"/>
            <a:ext cx="59070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Every business gets a fully isolated workspace with its own subdomain (acme.platform.com). Data is scoped at the database level — no business can ever see another's data.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46EAB8D5-75C9-37E5-5715-367EBD4A33A1}"/>
              </a:ext>
            </a:extLst>
          </p:cNvPr>
          <p:cNvSpPr/>
          <p:nvPr/>
        </p:nvSpPr>
        <p:spPr>
          <a:xfrm>
            <a:off x="5261049" y="3721570"/>
            <a:ext cx="237744" cy="237744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69" name="TextBox 42">
            <a:extLst>
              <a:ext uri="{FF2B5EF4-FFF2-40B4-BE49-F238E27FC236}">
                <a16:creationId xmlns:a16="http://schemas.microsoft.com/office/drawing/2014/main" id="{0C01777F-7644-858E-B6D6-A0BEC410EFD6}"/>
              </a:ext>
            </a:extLst>
          </p:cNvPr>
          <p:cNvSpPr txBox="1"/>
          <p:nvPr/>
        </p:nvSpPr>
        <p:spPr>
          <a:xfrm>
            <a:off x="5562801" y="3703282"/>
            <a:ext cx="590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Plug-and-Play Module System</a:t>
            </a:r>
          </a:p>
        </p:txBody>
      </p:sp>
      <p:sp>
        <p:nvSpPr>
          <p:cNvPr id="170" name="TextBox 43">
            <a:extLst>
              <a:ext uri="{FF2B5EF4-FFF2-40B4-BE49-F238E27FC236}">
                <a16:creationId xmlns:a16="http://schemas.microsoft.com/office/drawing/2014/main" id="{ADD8B885-0BEB-DF44-3F6F-5B4A8F5C44FC}"/>
              </a:ext>
            </a:extLst>
          </p:cNvPr>
          <p:cNvSpPr txBox="1"/>
          <p:nvPr/>
        </p:nvSpPr>
        <p:spPr>
          <a:xfrm>
            <a:off x="5562801" y="3886162"/>
            <a:ext cx="590702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Businesses activate only what they need: CRM, Inventory, HRMS, or HelpDesk. Unused modules stay off. Data is preserved when reactivated.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A4D0C50D-E040-96FD-D400-AFD14A2C3B4A}"/>
              </a:ext>
            </a:extLst>
          </p:cNvPr>
          <p:cNvSpPr/>
          <p:nvPr/>
        </p:nvSpPr>
        <p:spPr>
          <a:xfrm>
            <a:off x="5261049" y="4233634"/>
            <a:ext cx="237744" cy="237744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72" name="TextBox 45">
            <a:extLst>
              <a:ext uri="{FF2B5EF4-FFF2-40B4-BE49-F238E27FC236}">
                <a16:creationId xmlns:a16="http://schemas.microsoft.com/office/drawing/2014/main" id="{20C3D869-154F-0B3B-716C-B124393AEAE1}"/>
              </a:ext>
            </a:extLst>
          </p:cNvPr>
          <p:cNvSpPr txBox="1"/>
          <p:nvPr/>
        </p:nvSpPr>
        <p:spPr>
          <a:xfrm>
            <a:off x="5562801" y="4215346"/>
            <a:ext cx="590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Role-Based Access Control (RBAC)</a:t>
            </a:r>
          </a:p>
        </p:txBody>
      </p:sp>
      <p:sp>
        <p:nvSpPr>
          <p:cNvPr id="173" name="TextBox 46">
            <a:extLst>
              <a:ext uri="{FF2B5EF4-FFF2-40B4-BE49-F238E27FC236}">
                <a16:creationId xmlns:a16="http://schemas.microsoft.com/office/drawing/2014/main" id="{112AA003-D0D8-343B-351C-53F5D8006C44}"/>
              </a:ext>
            </a:extLst>
          </p:cNvPr>
          <p:cNvSpPr txBox="1"/>
          <p:nvPr/>
        </p:nvSpPr>
        <p:spPr>
          <a:xfrm>
            <a:off x="5562801" y="4398226"/>
            <a:ext cx="590702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Four roles: Owner → Admin → Manager → Staff. Enforced at the API middleware level on every request — not just hidden in the UI.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B1309893-4213-8827-5226-04F61AFF5228}"/>
              </a:ext>
            </a:extLst>
          </p:cNvPr>
          <p:cNvSpPr/>
          <p:nvPr/>
        </p:nvSpPr>
        <p:spPr>
          <a:xfrm>
            <a:off x="5261049" y="4745698"/>
            <a:ext cx="237744" cy="237744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175" name="TextBox 48">
            <a:extLst>
              <a:ext uri="{FF2B5EF4-FFF2-40B4-BE49-F238E27FC236}">
                <a16:creationId xmlns:a16="http://schemas.microsoft.com/office/drawing/2014/main" id="{F07A02B5-25B2-2A2E-D9BC-1FF487EC0F12}"/>
              </a:ext>
            </a:extLst>
          </p:cNvPr>
          <p:cNvSpPr txBox="1"/>
          <p:nvPr/>
        </p:nvSpPr>
        <p:spPr>
          <a:xfrm>
            <a:off x="5562801" y="4727410"/>
            <a:ext cx="590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Unified Data Across Modules</a:t>
            </a:r>
          </a:p>
        </p:txBody>
      </p:sp>
      <p:sp>
        <p:nvSpPr>
          <p:cNvPr id="176" name="TextBox 49">
            <a:extLst>
              <a:ext uri="{FF2B5EF4-FFF2-40B4-BE49-F238E27FC236}">
                <a16:creationId xmlns:a16="http://schemas.microsoft.com/office/drawing/2014/main" id="{FFEE2692-67D8-5D45-203D-A843840C441F}"/>
              </a:ext>
            </a:extLst>
          </p:cNvPr>
          <p:cNvSpPr txBox="1"/>
          <p:nvPr/>
        </p:nvSpPr>
        <p:spPr>
          <a:xfrm>
            <a:off x="5562801" y="4910290"/>
            <a:ext cx="590702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All modules share one database. A contact in CRM is the same record linked in HelpDesk. No more reconciling data across disconnected tools.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18643BE9-10A1-AD34-AE07-15AA9D5A2AAD}"/>
              </a:ext>
            </a:extLst>
          </p:cNvPr>
          <p:cNvSpPr/>
          <p:nvPr/>
        </p:nvSpPr>
        <p:spPr>
          <a:xfrm>
            <a:off x="5261049" y="5257762"/>
            <a:ext cx="237744" cy="237744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78" name="TextBox 51">
            <a:extLst>
              <a:ext uri="{FF2B5EF4-FFF2-40B4-BE49-F238E27FC236}">
                <a16:creationId xmlns:a16="http://schemas.microsoft.com/office/drawing/2014/main" id="{039767C2-8644-964A-1203-C0ECCE9274B6}"/>
              </a:ext>
            </a:extLst>
          </p:cNvPr>
          <p:cNvSpPr txBox="1"/>
          <p:nvPr/>
        </p:nvSpPr>
        <p:spPr>
          <a:xfrm>
            <a:off x="5562801" y="5239474"/>
            <a:ext cx="590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Affordable &amp; Instant Setup</a:t>
            </a:r>
          </a:p>
        </p:txBody>
      </p:sp>
      <p:sp>
        <p:nvSpPr>
          <p:cNvPr id="179" name="TextBox 52">
            <a:extLst>
              <a:ext uri="{FF2B5EF4-FFF2-40B4-BE49-F238E27FC236}">
                <a16:creationId xmlns:a16="http://schemas.microsoft.com/office/drawing/2014/main" id="{DFA5685C-5E68-089F-B683-5AB32049BDF5}"/>
              </a:ext>
            </a:extLst>
          </p:cNvPr>
          <p:cNvSpPr txBox="1"/>
          <p:nvPr/>
        </p:nvSpPr>
        <p:spPr>
          <a:xfrm>
            <a:off x="5562801" y="5422354"/>
            <a:ext cx="590702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Freemium model. No per-user pricing trap. A business can sign up and be fully operational in under 10 minutes.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A2C497E-F12E-B2C6-469A-CDF3DC9E2286}"/>
              </a:ext>
            </a:extLst>
          </p:cNvPr>
          <p:cNvSpPr/>
          <p:nvPr/>
        </p:nvSpPr>
        <p:spPr>
          <a:xfrm>
            <a:off x="5261049" y="5797258"/>
            <a:ext cx="6208776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1" name="TextBox 54">
            <a:extLst>
              <a:ext uri="{FF2B5EF4-FFF2-40B4-BE49-F238E27FC236}">
                <a16:creationId xmlns:a16="http://schemas.microsoft.com/office/drawing/2014/main" id="{5845B4B9-6666-924F-9D53-9930E7024D68}"/>
              </a:ext>
            </a:extLst>
          </p:cNvPr>
          <p:cNvSpPr txBox="1"/>
          <p:nvPr/>
        </p:nvSpPr>
        <p:spPr>
          <a:xfrm>
            <a:off x="5261049" y="5916130"/>
            <a:ext cx="6208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 i="0">
                <a:solidFill>
                  <a:srgbClr val="FDE499"/>
                </a:solidFill>
              </a:rPr>
              <a:t>PLATFORM MODULES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8B5A901A-A47C-9F37-E903-6EF74A4B95BE}"/>
              </a:ext>
            </a:extLst>
          </p:cNvPr>
          <p:cNvSpPr/>
          <p:nvPr/>
        </p:nvSpPr>
        <p:spPr>
          <a:xfrm>
            <a:off x="5261049" y="6099010"/>
            <a:ext cx="6208776" cy="16459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943BCD3-9A3F-3555-E653-404438E9A035}"/>
              </a:ext>
            </a:extLst>
          </p:cNvPr>
          <p:cNvSpPr/>
          <p:nvPr/>
        </p:nvSpPr>
        <p:spPr>
          <a:xfrm>
            <a:off x="5261049" y="6172162"/>
            <a:ext cx="3049524" cy="603504"/>
          </a:xfrm>
          <a:prstGeom prst="rect">
            <a:avLst/>
          </a:prstGeom>
          <a:solidFill>
            <a:srgbClr val="1E415F"/>
          </a:solidFill>
          <a:ln w="381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B750734-C82D-0C62-8980-A7FA548471FF}"/>
              </a:ext>
            </a:extLst>
          </p:cNvPr>
          <p:cNvSpPr/>
          <p:nvPr/>
        </p:nvSpPr>
        <p:spPr>
          <a:xfrm>
            <a:off x="5261049" y="6172162"/>
            <a:ext cx="36576" cy="603504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5" name="TextBox 58">
            <a:extLst>
              <a:ext uri="{FF2B5EF4-FFF2-40B4-BE49-F238E27FC236}">
                <a16:creationId xmlns:a16="http://schemas.microsoft.com/office/drawing/2014/main" id="{266E19B1-CFD0-CA9F-F8A9-1D2EEA8FF2C5}"/>
              </a:ext>
            </a:extLst>
          </p:cNvPr>
          <p:cNvSpPr txBox="1"/>
          <p:nvPr/>
        </p:nvSpPr>
        <p:spPr>
          <a:xfrm>
            <a:off x="5352489" y="6236170"/>
            <a:ext cx="2921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DE499"/>
                </a:solidFill>
              </a:rPr>
              <a:t>📊  CRM</a:t>
            </a:r>
          </a:p>
        </p:txBody>
      </p:sp>
      <p:sp>
        <p:nvSpPr>
          <p:cNvPr id="186" name="TextBox 59">
            <a:extLst>
              <a:ext uri="{FF2B5EF4-FFF2-40B4-BE49-F238E27FC236}">
                <a16:creationId xmlns:a16="http://schemas.microsoft.com/office/drawing/2014/main" id="{5E849725-4D0B-1540-762E-5A8486DD0FA2}"/>
              </a:ext>
            </a:extLst>
          </p:cNvPr>
          <p:cNvSpPr txBox="1"/>
          <p:nvPr/>
        </p:nvSpPr>
        <p:spPr>
          <a:xfrm>
            <a:off x="5352489" y="6446482"/>
            <a:ext cx="292150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0" b="0" i="0">
                <a:solidFill>
                  <a:srgbClr val="D0DFF5"/>
                </a:solidFill>
              </a:rPr>
              <a:t>Leads, contacts, deals &amp; sales pipeline for sales teams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C00E5C2-DC2C-1493-885B-15FA7FB5BF72}"/>
              </a:ext>
            </a:extLst>
          </p:cNvPr>
          <p:cNvSpPr/>
          <p:nvPr/>
        </p:nvSpPr>
        <p:spPr>
          <a:xfrm>
            <a:off x="8420301" y="6172162"/>
            <a:ext cx="3049524" cy="603504"/>
          </a:xfrm>
          <a:prstGeom prst="rect">
            <a:avLst/>
          </a:prstGeom>
          <a:solidFill>
            <a:srgbClr val="F9FAD9"/>
          </a:solidFill>
          <a:ln w="381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DE3B15F-7EEE-8504-50A2-62636A2A3C65}"/>
              </a:ext>
            </a:extLst>
          </p:cNvPr>
          <p:cNvSpPr/>
          <p:nvPr/>
        </p:nvSpPr>
        <p:spPr>
          <a:xfrm>
            <a:off x="8420301" y="6172162"/>
            <a:ext cx="36576" cy="603504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9" name="TextBox 62">
            <a:extLst>
              <a:ext uri="{FF2B5EF4-FFF2-40B4-BE49-F238E27FC236}">
                <a16:creationId xmlns:a16="http://schemas.microsoft.com/office/drawing/2014/main" id="{E9447682-47FF-D4CE-4E9B-B6B4917A814D}"/>
              </a:ext>
            </a:extLst>
          </p:cNvPr>
          <p:cNvSpPr txBox="1"/>
          <p:nvPr/>
        </p:nvSpPr>
        <p:spPr>
          <a:xfrm>
            <a:off x="8511741" y="6236170"/>
            <a:ext cx="2921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2E5395"/>
                </a:solidFill>
              </a:rPr>
              <a:t>📦  Inventory</a:t>
            </a:r>
          </a:p>
        </p:txBody>
      </p:sp>
      <p:sp>
        <p:nvSpPr>
          <p:cNvPr id="190" name="TextBox 63">
            <a:extLst>
              <a:ext uri="{FF2B5EF4-FFF2-40B4-BE49-F238E27FC236}">
                <a16:creationId xmlns:a16="http://schemas.microsoft.com/office/drawing/2014/main" id="{8EF1035E-D50E-7178-F8C4-86C5C5DD01E7}"/>
              </a:ext>
            </a:extLst>
          </p:cNvPr>
          <p:cNvSpPr txBox="1"/>
          <p:nvPr/>
        </p:nvSpPr>
        <p:spPr>
          <a:xfrm>
            <a:off x="8511741" y="6446482"/>
            <a:ext cx="292150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0" b="0" i="0">
                <a:solidFill>
                  <a:srgbClr val="333344"/>
                </a:solidFill>
              </a:rPr>
              <a:t>Products, stock levels, orders &amp; supplier management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62928247-EDD7-53F8-631B-81D3BF8F837C}"/>
              </a:ext>
            </a:extLst>
          </p:cNvPr>
          <p:cNvSpPr/>
          <p:nvPr/>
        </p:nvSpPr>
        <p:spPr>
          <a:xfrm>
            <a:off x="5261049" y="6830530"/>
            <a:ext cx="3049524" cy="603504"/>
          </a:xfrm>
          <a:prstGeom prst="rect">
            <a:avLst/>
          </a:prstGeom>
          <a:solidFill>
            <a:srgbClr val="F9FAD9"/>
          </a:solidFill>
          <a:ln w="381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3B7829E-54F3-6F81-7B56-A9F2C199BE12}"/>
              </a:ext>
            </a:extLst>
          </p:cNvPr>
          <p:cNvSpPr/>
          <p:nvPr/>
        </p:nvSpPr>
        <p:spPr>
          <a:xfrm>
            <a:off x="5261049" y="6830530"/>
            <a:ext cx="36576" cy="603504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3" name="TextBox 66">
            <a:extLst>
              <a:ext uri="{FF2B5EF4-FFF2-40B4-BE49-F238E27FC236}">
                <a16:creationId xmlns:a16="http://schemas.microsoft.com/office/drawing/2014/main" id="{C4383EC5-3603-59AF-41A6-9A46A8ECC980}"/>
              </a:ext>
            </a:extLst>
          </p:cNvPr>
          <p:cNvSpPr txBox="1"/>
          <p:nvPr/>
        </p:nvSpPr>
        <p:spPr>
          <a:xfrm>
            <a:off x="5352489" y="6894538"/>
            <a:ext cx="2921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2E5395"/>
                </a:solidFill>
              </a:rPr>
              <a:t>👥  HRMS</a:t>
            </a:r>
          </a:p>
        </p:txBody>
      </p:sp>
      <p:sp>
        <p:nvSpPr>
          <p:cNvPr id="194" name="TextBox 67">
            <a:extLst>
              <a:ext uri="{FF2B5EF4-FFF2-40B4-BE49-F238E27FC236}">
                <a16:creationId xmlns:a16="http://schemas.microsoft.com/office/drawing/2014/main" id="{EA7380F0-0B56-2F3C-B795-541740FD6111}"/>
              </a:ext>
            </a:extLst>
          </p:cNvPr>
          <p:cNvSpPr txBox="1"/>
          <p:nvPr/>
        </p:nvSpPr>
        <p:spPr>
          <a:xfrm>
            <a:off x="5352489" y="7104849"/>
            <a:ext cx="292150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0" b="0" i="0">
                <a:solidFill>
                  <a:srgbClr val="333344"/>
                </a:solidFill>
              </a:rPr>
              <a:t>Employees, attendance, leave management &amp; payroll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A854DC8D-C10B-1469-E66E-6CE9FBFE2636}"/>
              </a:ext>
            </a:extLst>
          </p:cNvPr>
          <p:cNvSpPr/>
          <p:nvPr/>
        </p:nvSpPr>
        <p:spPr>
          <a:xfrm>
            <a:off x="8420301" y="6830530"/>
            <a:ext cx="3049524" cy="603504"/>
          </a:xfrm>
          <a:prstGeom prst="rect">
            <a:avLst/>
          </a:prstGeom>
          <a:solidFill>
            <a:srgbClr val="1E415F"/>
          </a:solidFill>
          <a:ln w="381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9EF2C40-AD95-48E2-E3DF-10FEC9F7FAE8}"/>
              </a:ext>
            </a:extLst>
          </p:cNvPr>
          <p:cNvSpPr/>
          <p:nvPr/>
        </p:nvSpPr>
        <p:spPr>
          <a:xfrm>
            <a:off x="8420301" y="6830530"/>
            <a:ext cx="36576" cy="603504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7" name="TextBox 70">
            <a:extLst>
              <a:ext uri="{FF2B5EF4-FFF2-40B4-BE49-F238E27FC236}">
                <a16:creationId xmlns:a16="http://schemas.microsoft.com/office/drawing/2014/main" id="{47130598-B53C-0E63-B80B-6A9D2E3F18DB}"/>
              </a:ext>
            </a:extLst>
          </p:cNvPr>
          <p:cNvSpPr txBox="1"/>
          <p:nvPr/>
        </p:nvSpPr>
        <p:spPr>
          <a:xfrm>
            <a:off x="8511741" y="6894538"/>
            <a:ext cx="2921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DE499"/>
                </a:solidFill>
              </a:rPr>
              <a:t>🎫  HelpDesk</a:t>
            </a:r>
          </a:p>
        </p:txBody>
      </p:sp>
      <p:sp>
        <p:nvSpPr>
          <p:cNvPr id="198" name="TextBox 71">
            <a:extLst>
              <a:ext uri="{FF2B5EF4-FFF2-40B4-BE49-F238E27FC236}">
                <a16:creationId xmlns:a16="http://schemas.microsoft.com/office/drawing/2014/main" id="{E165A42C-A106-43AE-3734-0DB9EC34818A}"/>
              </a:ext>
            </a:extLst>
          </p:cNvPr>
          <p:cNvSpPr txBox="1"/>
          <p:nvPr/>
        </p:nvSpPr>
        <p:spPr>
          <a:xfrm>
            <a:off x="8511741" y="7104849"/>
            <a:ext cx="292150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0" b="0" i="0">
                <a:solidFill>
                  <a:srgbClr val="D0DFF5"/>
                </a:solidFill>
              </a:rPr>
              <a:t>Support tickets, agent assignment &amp; resolution tracking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48DAED03-6BD7-4A7D-8787-3A8B68A078D8}"/>
              </a:ext>
            </a:extLst>
          </p:cNvPr>
          <p:cNvSpPr/>
          <p:nvPr/>
        </p:nvSpPr>
        <p:spPr>
          <a:xfrm>
            <a:off x="5261049" y="7607770"/>
            <a:ext cx="6208776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0" name="TextBox 73">
            <a:extLst>
              <a:ext uri="{FF2B5EF4-FFF2-40B4-BE49-F238E27FC236}">
                <a16:creationId xmlns:a16="http://schemas.microsoft.com/office/drawing/2014/main" id="{C9E3089A-A7A0-06E2-098F-1E487B23A52C}"/>
              </a:ext>
            </a:extLst>
          </p:cNvPr>
          <p:cNvSpPr txBox="1"/>
          <p:nvPr/>
        </p:nvSpPr>
        <p:spPr>
          <a:xfrm>
            <a:off x="5261049" y="7726642"/>
            <a:ext cx="6208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 i="0">
                <a:solidFill>
                  <a:srgbClr val="FDE499"/>
                </a:solidFill>
              </a:rPr>
              <a:t>ROLE-BASED ACCESS CONTROL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70901EEC-5B8D-4F43-BE5C-93E45328BD9B}"/>
              </a:ext>
            </a:extLst>
          </p:cNvPr>
          <p:cNvSpPr/>
          <p:nvPr/>
        </p:nvSpPr>
        <p:spPr>
          <a:xfrm>
            <a:off x="5261049" y="7909522"/>
            <a:ext cx="6208776" cy="16459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07D11388-24EA-B7FE-C58F-4BE96AE1D9B0}"/>
              </a:ext>
            </a:extLst>
          </p:cNvPr>
          <p:cNvSpPr/>
          <p:nvPr/>
        </p:nvSpPr>
        <p:spPr>
          <a:xfrm>
            <a:off x="5261049" y="7982674"/>
            <a:ext cx="868680" cy="228600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7A5C00"/>
                </a:solidFill>
              </a:rPr>
              <a:t>Owner</a:t>
            </a:r>
          </a:p>
        </p:txBody>
      </p:sp>
      <p:sp>
        <p:nvSpPr>
          <p:cNvPr id="203" name="TextBox 76">
            <a:extLst>
              <a:ext uri="{FF2B5EF4-FFF2-40B4-BE49-F238E27FC236}">
                <a16:creationId xmlns:a16="http://schemas.microsoft.com/office/drawing/2014/main" id="{A7962E29-640C-15A3-1841-4F6F5EF21321}"/>
              </a:ext>
            </a:extLst>
          </p:cNvPr>
          <p:cNvSpPr txBox="1"/>
          <p:nvPr/>
        </p:nvSpPr>
        <p:spPr>
          <a:xfrm>
            <a:off x="6193737" y="8000962"/>
            <a:ext cx="5257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 i="0">
                <a:solidFill>
                  <a:srgbClr val="D0DFF5"/>
                </a:solidFill>
              </a:rPr>
              <a:t>Full control — billing, workspace deletion, all settings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61DB952C-33DD-AB5D-579A-7007A6ECC649}"/>
              </a:ext>
            </a:extLst>
          </p:cNvPr>
          <p:cNvSpPr/>
          <p:nvPr/>
        </p:nvSpPr>
        <p:spPr>
          <a:xfrm>
            <a:off x="5261049" y="8275282"/>
            <a:ext cx="868680" cy="228600"/>
          </a:xfrm>
          <a:prstGeom prst="rect">
            <a:avLst/>
          </a:prstGeom>
          <a:solidFill>
            <a:srgbClr val="FF9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205" name="TextBox 78">
            <a:extLst>
              <a:ext uri="{FF2B5EF4-FFF2-40B4-BE49-F238E27FC236}">
                <a16:creationId xmlns:a16="http://schemas.microsoft.com/office/drawing/2014/main" id="{A84E2E9F-B5C0-0D65-BFFE-8664BBFC5BBA}"/>
              </a:ext>
            </a:extLst>
          </p:cNvPr>
          <p:cNvSpPr txBox="1"/>
          <p:nvPr/>
        </p:nvSpPr>
        <p:spPr>
          <a:xfrm>
            <a:off x="6193737" y="8293570"/>
            <a:ext cx="5257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 i="0">
                <a:solidFill>
                  <a:srgbClr val="D0DFF5"/>
                </a:solidFill>
              </a:rPr>
              <a:t>Manage members, activate modules, all operational access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B4D26FA3-5134-B9A0-B004-0E8E265811F1}"/>
              </a:ext>
            </a:extLst>
          </p:cNvPr>
          <p:cNvSpPr/>
          <p:nvPr/>
        </p:nvSpPr>
        <p:spPr>
          <a:xfrm>
            <a:off x="5261049" y="8567890"/>
            <a:ext cx="868680" cy="228600"/>
          </a:xfrm>
          <a:prstGeom prst="rect">
            <a:avLst/>
          </a:prstGeom>
          <a:solidFill>
            <a:srgbClr val="A5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1A4A4E"/>
                </a:solidFill>
              </a:rPr>
              <a:t>Manager</a:t>
            </a:r>
          </a:p>
        </p:txBody>
      </p:sp>
      <p:sp>
        <p:nvSpPr>
          <p:cNvPr id="207" name="TextBox 80">
            <a:extLst>
              <a:ext uri="{FF2B5EF4-FFF2-40B4-BE49-F238E27FC236}">
                <a16:creationId xmlns:a16="http://schemas.microsoft.com/office/drawing/2014/main" id="{46DE4087-D236-141F-8101-52C3B21AD62F}"/>
              </a:ext>
            </a:extLst>
          </p:cNvPr>
          <p:cNvSpPr txBox="1"/>
          <p:nvPr/>
        </p:nvSpPr>
        <p:spPr>
          <a:xfrm>
            <a:off x="6193737" y="8586178"/>
            <a:ext cx="5257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 i="0">
                <a:solidFill>
                  <a:srgbClr val="D0DFF5"/>
                </a:solidFill>
              </a:rPr>
              <a:t>Approve leaves, assign tickets, manage within module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CEFB9A1-F836-59B5-B938-EF952C221907}"/>
              </a:ext>
            </a:extLst>
          </p:cNvPr>
          <p:cNvSpPr/>
          <p:nvPr/>
        </p:nvSpPr>
        <p:spPr>
          <a:xfrm>
            <a:off x="5261049" y="8860498"/>
            <a:ext cx="868680" cy="228600"/>
          </a:xfrm>
          <a:prstGeom prst="rect">
            <a:avLst/>
          </a:prstGeom>
          <a:solidFill>
            <a:srgbClr val="D0B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3D1A7A"/>
                </a:solidFill>
              </a:rPr>
              <a:t>Staff</a:t>
            </a:r>
          </a:p>
        </p:txBody>
      </p:sp>
      <p:sp>
        <p:nvSpPr>
          <p:cNvPr id="209" name="TextBox 82">
            <a:extLst>
              <a:ext uri="{FF2B5EF4-FFF2-40B4-BE49-F238E27FC236}">
                <a16:creationId xmlns:a16="http://schemas.microsoft.com/office/drawing/2014/main" id="{8CFE4E48-D349-8C99-BD30-96461F4462A4}"/>
              </a:ext>
            </a:extLst>
          </p:cNvPr>
          <p:cNvSpPr txBox="1"/>
          <p:nvPr/>
        </p:nvSpPr>
        <p:spPr>
          <a:xfrm>
            <a:off x="6193737" y="8878786"/>
            <a:ext cx="5257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 i="0">
                <a:solidFill>
                  <a:srgbClr val="D0DFF5"/>
                </a:solidFill>
              </a:rPr>
              <a:t>Day-to-day work — create &amp; update records, cannot delete</a:t>
            </a:r>
          </a:p>
        </p:txBody>
      </p:sp>
      <p:sp>
        <p:nvSpPr>
          <p:cNvPr id="210" name="TextBox 83">
            <a:extLst>
              <a:ext uri="{FF2B5EF4-FFF2-40B4-BE49-F238E27FC236}">
                <a16:creationId xmlns:a16="http://schemas.microsoft.com/office/drawing/2014/main" id="{E018D176-C6F2-9A1E-DC10-B95753E82AF1}"/>
              </a:ext>
            </a:extLst>
          </p:cNvPr>
          <p:cNvSpPr txBox="1"/>
          <p:nvPr/>
        </p:nvSpPr>
        <p:spPr>
          <a:xfrm>
            <a:off x="11788052" y="2887955"/>
            <a:ext cx="6208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 i="0">
                <a:solidFill>
                  <a:srgbClr val="FDE499"/>
                </a:solidFill>
              </a:rPr>
              <a:t>APP FLOW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D816E631-8B1D-74DB-693C-819B20D88B6C}"/>
              </a:ext>
            </a:extLst>
          </p:cNvPr>
          <p:cNvSpPr/>
          <p:nvPr/>
        </p:nvSpPr>
        <p:spPr>
          <a:xfrm>
            <a:off x="11788052" y="3070835"/>
            <a:ext cx="6208776" cy="16459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B3A302A4-1A14-8DB2-7DD9-35ED71EF09F1}"/>
              </a:ext>
            </a:extLst>
          </p:cNvPr>
          <p:cNvSpPr/>
          <p:nvPr/>
        </p:nvSpPr>
        <p:spPr>
          <a:xfrm>
            <a:off x="11788052" y="3162275"/>
            <a:ext cx="237744" cy="237744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213" name="TextBox 86">
            <a:extLst>
              <a:ext uri="{FF2B5EF4-FFF2-40B4-BE49-F238E27FC236}">
                <a16:creationId xmlns:a16="http://schemas.microsoft.com/office/drawing/2014/main" id="{BEE2D0E1-E6FE-2B16-F529-613DC4253DA3}"/>
              </a:ext>
            </a:extLst>
          </p:cNvPr>
          <p:cNvSpPr txBox="1"/>
          <p:nvPr/>
        </p:nvSpPr>
        <p:spPr>
          <a:xfrm>
            <a:off x="12089804" y="3143987"/>
            <a:ext cx="590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Sign Up &amp; Create Workspace</a:t>
            </a:r>
          </a:p>
        </p:txBody>
      </p:sp>
      <p:sp>
        <p:nvSpPr>
          <p:cNvPr id="214" name="TextBox 87">
            <a:extLst>
              <a:ext uri="{FF2B5EF4-FFF2-40B4-BE49-F238E27FC236}">
                <a16:creationId xmlns:a16="http://schemas.microsoft.com/office/drawing/2014/main" id="{59431670-FFD1-3508-7490-9A96545609C4}"/>
              </a:ext>
            </a:extLst>
          </p:cNvPr>
          <p:cNvSpPr txBox="1"/>
          <p:nvPr/>
        </p:nvSpPr>
        <p:spPr>
          <a:xfrm>
            <a:off x="12089804" y="3326867"/>
            <a:ext cx="590702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Business owner registers → isolated workspace created with unique subdomain instantly.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A14F852F-546E-7A31-6E1D-4858AA14D71E}"/>
              </a:ext>
            </a:extLst>
          </p:cNvPr>
          <p:cNvSpPr/>
          <p:nvPr/>
        </p:nvSpPr>
        <p:spPr>
          <a:xfrm>
            <a:off x="11788052" y="3674339"/>
            <a:ext cx="237744" cy="237744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216" name="TextBox 89">
            <a:extLst>
              <a:ext uri="{FF2B5EF4-FFF2-40B4-BE49-F238E27FC236}">
                <a16:creationId xmlns:a16="http://schemas.microsoft.com/office/drawing/2014/main" id="{44108A6F-60A4-B455-FEC5-271C09A274DC}"/>
              </a:ext>
            </a:extLst>
          </p:cNvPr>
          <p:cNvSpPr txBox="1"/>
          <p:nvPr/>
        </p:nvSpPr>
        <p:spPr>
          <a:xfrm>
            <a:off x="12089804" y="3656051"/>
            <a:ext cx="590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Activate Modules</a:t>
            </a:r>
          </a:p>
        </p:txBody>
      </p:sp>
      <p:sp>
        <p:nvSpPr>
          <p:cNvPr id="217" name="TextBox 90">
            <a:extLst>
              <a:ext uri="{FF2B5EF4-FFF2-40B4-BE49-F238E27FC236}">
                <a16:creationId xmlns:a16="http://schemas.microsoft.com/office/drawing/2014/main" id="{395BE7C7-9298-7945-472D-02A5DAE07005}"/>
              </a:ext>
            </a:extLst>
          </p:cNvPr>
          <p:cNvSpPr txBox="1"/>
          <p:nvPr/>
        </p:nvSpPr>
        <p:spPr>
          <a:xfrm>
            <a:off x="12089804" y="3838931"/>
            <a:ext cx="590702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Toggle on CRM, Inventory, HRMS, or HelpDesk from workspace settings. Only pay for what you use.</a:t>
            </a: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7B51540D-2287-90E1-CE64-81A05B3E28C8}"/>
              </a:ext>
            </a:extLst>
          </p:cNvPr>
          <p:cNvSpPr/>
          <p:nvPr/>
        </p:nvSpPr>
        <p:spPr>
          <a:xfrm>
            <a:off x="11788052" y="4186403"/>
            <a:ext cx="237744" cy="237744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19" name="TextBox 92">
            <a:extLst>
              <a:ext uri="{FF2B5EF4-FFF2-40B4-BE49-F238E27FC236}">
                <a16:creationId xmlns:a16="http://schemas.microsoft.com/office/drawing/2014/main" id="{2C0981FC-EC37-1836-03EB-AD95B7C71937}"/>
              </a:ext>
            </a:extLst>
          </p:cNvPr>
          <p:cNvSpPr txBox="1"/>
          <p:nvPr/>
        </p:nvSpPr>
        <p:spPr>
          <a:xfrm>
            <a:off x="12089804" y="4168115"/>
            <a:ext cx="590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Invite Team &amp; Assign Roles</a:t>
            </a:r>
          </a:p>
        </p:txBody>
      </p:sp>
      <p:sp>
        <p:nvSpPr>
          <p:cNvPr id="220" name="TextBox 93">
            <a:extLst>
              <a:ext uri="{FF2B5EF4-FFF2-40B4-BE49-F238E27FC236}">
                <a16:creationId xmlns:a16="http://schemas.microsoft.com/office/drawing/2014/main" id="{573D69B8-ABE6-3B9B-F3BD-3A820E2C5419}"/>
              </a:ext>
            </a:extLst>
          </p:cNvPr>
          <p:cNvSpPr txBox="1"/>
          <p:nvPr/>
        </p:nvSpPr>
        <p:spPr>
          <a:xfrm>
            <a:off x="12089804" y="4350995"/>
            <a:ext cx="590702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Send email invites to team members. Assign Owner / Admin / Manager / Staff roles per person.</a:t>
            </a: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EF43DBF6-D029-22F9-A8D0-8B4C0F3BEA36}"/>
              </a:ext>
            </a:extLst>
          </p:cNvPr>
          <p:cNvSpPr/>
          <p:nvPr/>
        </p:nvSpPr>
        <p:spPr>
          <a:xfrm>
            <a:off x="11788052" y="4698467"/>
            <a:ext cx="237744" cy="237744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222" name="TextBox 95">
            <a:extLst>
              <a:ext uri="{FF2B5EF4-FFF2-40B4-BE49-F238E27FC236}">
                <a16:creationId xmlns:a16="http://schemas.microsoft.com/office/drawing/2014/main" id="{9BB865C1-3583-5FC2-FF80-62944AF9B265}"/>
              </a:ext>
            </a:extLst>
          </p:cNvPr>
          <p:cNvSpPr txBox="1"/>
          <p:nvPr/>
        </p:nvSpPr>
        <p:spPr>
          <a:xfrm>
            <a:off x="12089804" y="4680179"/>
            <a:ext cx="590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Start Working</a:t>
            </a:r>
          </a:p>
        </p:txBody>
      </p:sp>
      <p:sp>
        <p:nvSpPr>
          <p:cNvPr id="223" name="TextBox 96">
            <a:extLst>
              <a:ext uri="{FF2B5EF4-FFF2-40B4-BE49-F238E27FC236}">
                <a16:creationId xmlns:a16="http://schemas.microsoft.com/office/drawing/2014/main" id="{E3E0E925-71A1-0E59-3BB8-9EB51EA6931D}"/>
              </a:ext>
            </a:extLst>
          </p:cNvPr>
          <p:cNvSpPr txBox="1"/>
          <p:nvPr/>
        </p:nvSpPr>
        <p:spPr>
          <a:xfrm>
            <a:off x="12089804" y="4863059"/>
            <a:ext cx="590702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Sidebar shows only active modules. Every user sees only what their role permits.</a:t>
            </a: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35FE3B2D-65E6-3190-0AD7-377EDCA325F8}"/>
              </a:ext>
            </a:extLst>
          </p:cNvPr>
          <p:cNvSpPr/>
          <p:nvPr/>
        </p:nvSpPr>
        <p:spPr>
          <a:xfrm>
            <a:off x="11788052" y="5210531"/>
            <a:ext cx="237744" cy="237744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225" name="TextBox 98">
            <a:extLst>
              <a:ext uri="{FF2B5EF4-FFF2-40B4-BE49-F238E27FC236}">
                <a16:creationId xmlns:a16="http://schemas.microsoft.com/office/drawing/2014/main" id="{1815D0C8-4F94-0E33-02E8-69C28853B59C}"/>
              </a:ext>
            </a:extLst>
          </p:cNvPr>
          <p:cNvSpPr txBox="1"/>
          <p:nvPr/>
        </p:nvSpPr>
        <p:spPr>
          <a:xfrm>
            <a:off x="12089804" y="5192243"/>
            <a:ext cx="590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Full Audit Trail</a:t>
            </a:r>
          </a:p>
        </p:txBody>
      </p:sp>
      <p:sp>
        <p:nvSpPr>
          <p:cNvPr id="226" name="TextBox 99">
            <a:extLst>
              <a:ext uri="{FF2B5EF4-FFF2-40B4-BE49-F238E27FC236}">
                <a16:creationId xmlns:a16="http://schemas.microsoft.com/office/drawing/2014/main" id="{8680F81A-5754-3D83-8AA1-D575C1E2A8B2}"/>
              </a:ext>
            </a:extLst>
          </p:cNvPr>
          <p:cNvSpPr txBox="1"/>
          <p:nvPr/>
        </p:nvSpPr>
        <p:spPr>
          <a:xfrm>
            <a:off x="12089804" y="5365677"/>
            <a:ext cx="590702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Every action is logged — who created, edited, or deleted what, and when. Data stays in the cloud.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3479C928-DC38-5BC8-6FAF-4BC40BCC965E}"/>
              </a:ext>
            </a:extLst>
          </p:cNvPr>
          <p:cNvSpPr/>
          <p:nvPr/>
        </p:nvSpPr>
        <p:spPr>
          <a:xfrm>
            <a:off x="11788052" y="5750027"/>
            <a:ext cx="6208776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8" name="TextBox 101">
            <a:extLst>
              <a:ext uri="{FF2B5EF4-FFF2-40B4-BE49-F238E27FC236}">
                <a16:creationId xmlns:a16="http://schemas.microsoft.com/office/drawing/2014/main" id="{0FB64B4E-2EC7-76BD-ED7D-44FE9BA4C815}"/>
              </a:ext>
            </a:extLst>
          </p:cNvPr>
          <p:cNvSpPr txBox="1"/>
          <p:nvPr/>
        </p:nvSpPr>
        <p:spPr>
          <a:xfrm>
            <a:off x="11788052" y="5868899"/>
            <a:ext cx="6208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 i="0">
                <a:solidFill>
                  <a:srgbClr val="FDE499"/>
                </a:solidFill>
              </a:rPr>
              <a:t>PROPOSED SOLUTION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1FDA87D-0186-BD6A-852A-6D74824A34BB}"/>
              </a:ext>
            </a:extLst>
          </p:cNvPr>
          <p:cNvSpPr/>
          <p:nvPr/>
        </p:nvSpPr>
        <p:spPr>
          <a:xfrm>
            <a:off x="11788052" y="6051779"/>
            <a:ext cx="6208776" cy="16459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773069BA-9B31-CD00-102F-D00EA5EA38DE}"/>
              </a:ext>
            </a:extLst>
          </p:cNvPr>
          <p:cNvSpPr/>
          <p:nvPr/>
        </p:nvSpPr>
        <p:spPr>
          <a:xfrm>
            <a:off x="11788052" y="6161507"/>
            <a:ext cx="182880" cy="182880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✦</a:t>
            </a:r>
          </a:p>
        </p:txBody>
      </p:sp>
      <p:sp>
        <p:nvSpPr>
          <p:cNvPr id="231" name="TextBox 104">
            <a:extLst>
              <a:ext uri="{FF2B5EF4-FFF2-40B4-BE49-F238E27FC236}">
                <a16:creationId xmlns:a16="http://schemas.microsoft.com/office/drawing/2014/main" id="{A7508285-3D25-758E-9617-C6092360825B}"/>
              </a:ext>
            </a:extLst>
          </p:cNvPr>
          <p:cNvSpPr txBox="1"/>
          <p:nvPr/>
        </p:nvSpPr>
        <p:spPr>
          <a:xfrm>
            <a:off x="12044083" y="6124931"/>
            <a:ext cx="5952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Platform, not a product</a:t>
            </a:r>
          </a:p>
        </p:txBody>
      </p:sp>
      <p:sp>
        <p:nvSpPr>
          <p:cNvPr id="232" name="TextBox 105">
            <a:extLst>
              <a:ext uri="{FF2B5EF4-FFF2-40B4-BE49-F238E27FC236}">
                <a16:creationId xmlns:a16="http://schemas.microsoft.com/office/drawing/2014/main" id="{A52DAD16-5D7C-64AF-3F8E-6CD68A947B03}"/>
              </a:ext>
            </a:extLst>
          </p:cNvPr>
          <p:cNvSpPr txBox="1"/>
          <p:nvPr/>
        </p:nvSpPr>
        <p:spPr>
          <a:xfrm>
            <a:off x="12044083" y="6307811"/>
            <a:ext cx="595274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Businesses assemble their own toolset by activating modules — like Shopify apps for their business OS.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8D765324-9118-D850-83B7-CA64AA09D7A3}"/>
              </a:ext>
            </a:extLst>
          </p:cNvPr>
          <p:cNvSpPr/>
          <p:nvPr/>
        </p:nvSpPr>
        <p:spPr>
          <a:xfrm>
            <a:off x="11788052" y="6655283"/>
            <a:ext cx="182880" cy="182880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✦</a:t>
            </a:r>
          </a:p>
        </p:txBody>
      </p:sp>
      <p:sp>
        <p:nvSpPr>
          <p:cNvPr id="234" name="TextBox 107">
            <a:extLst>
              <a:ext uri="{FF2B5EF4-FFF2-40B4-BE49-F238E27FC236}">
                <a16:creationId xmlns:a16="http://schemas.microsoft.com/office/drawing/2014/main" id="{1FC9436E-627C-A6B4-CA26-CE0EDEFBAAC2}"/>
              </a:ext>
            </a:extLst>
          </p:cNvPr>
          <p:cNvSpPr txBox="1"/>
          <p:nvPr/>
        </p:nvSpPr>
        <p:spPr>
          <a:xfrm>
            <a:off x="12044083" y="6618707"/>
            <a:ext cx="5952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True data isolation</a:t>
            </a:r>
          </a:p>
        </p:txBody>
      </p:sp>
      <p:sp>
        <p:nvSpPr>
          <p:cNvPr id="235" name="TextBox 108">
            <a:extLst>
              <a:ext uri="{FF2B5EF4-FFF2-40B4-BE49-F238E27FC236}">
                <a16:creationId xmlns:a16="http://schemas.microsoft.com/office/drawing/2014/main" id="{B0885F69-9D4D-5367-82A3-120A0986B38C}"/>
              </a:ext>
            </a:extLst>
          </p:cNvPr>
          <p:cNvSpPr txBox="1"/>
          <p:nvPr/>
        </p:nvSpPr>
        <p:spPr>
          <a:xfrm>
            <a:off x="12044083" y="6801587"/>
            <a:ext cx="595274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Every query is scoped with tenant_id at the database level, not just the UI layer.</a:t>
            </a: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54D5BC67-B3A5-B3D8-6BA2-DD1BB66B7749}"/>
              </a:ext>
            </a:extLst>
          </p:cNvPr>
          <p:cNvSpPr/>
          <p:nvPr/>
        </p:nvSpPr>
        <p:spPr>
          <a:xfrm>
            <a:off x="11788052" y="7149059"/>
            <a:ext cx="182880" cy="182880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✦</a:t>
            </a:r>
          </a:p>
        </p:txBody>
      </p:sp>
      <p:sp>
        <p:nvSpPr>
          <p:cNvPr id="237" name="TextBox 110">
            <a:extLst>
              <a:ext uri="{FF2B5EF4-FFF2-40B4-BE49-F238E27FC236}">
                <a16:creationId xmlns:a16="http://schemas.microsoft.com/office/drawing/2014/main" id="{F5177DB3-06D0-CF93-BD6D-86879642D41C}"/>
              </a:ext>
            </a:extLst>
          </p:cNvPr>
          <p:cNvSpPr txBox="1"/>
          <p:nvPr/>
        </p:nvSpPr>
        <p:spPr>
          <a:xfrm>
            <a:off x="12044083" y="7112483"/>
            <a:ext cx="5952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Middleware-enforced security</a:t>
            </a:r>
          </a:p>
        </p:txBody>
      </p:sp>
      <p:sp>
        <p:nvSpPr>
          <p:cNvPr id="238" name="TextBox 111">
            <a:extLst>
              <a:ext uri="{FF2B5EF4-FFF2-40B4-BE49-F238E27FC236}">
                <a16:creationId xmlns:a16="http://schemas.microsoft.com/office/drawing/2014/main" id="{CB9DFF28-D72B-BA99-1B6F-0045954C6604}"/>
              </a:ext>
            </a:extLst>
          </p:cNvPr>
          <p:cNvSpPr txBox="1"/>
          <p:nvPr/>
        </p:nvSpPr>
        <p:spPr>
          <a:xfrm>
            <a:off x="12044083" y="7295363"/>
            <a:ext cx="595274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Auth → Tenant → RBAC → Module checks on every single API request, no exceptions.</a:t>
            </a: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26505AC9-EA8C-5326-CCCA-5148623D361F}"/>
              </a:ext>
            </a:extLst>
          </p:cNvPr>
          <p:cNvSpPr/>
          <p:nvPr/>
        </p:nvSpPr>
        <p:spPr>
          <a:xfrm>
            <a:off x="11788052" y="7642835"/>
            <a:ext cx="182880" cy="182880"/>
          </a:xfrm>
          <a:prstGeom prst="ellipse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b="1">
                <a:solidFill>
                  <a:srgbClr val="1A1A2E"/>
                </a:solidFill>
              </a:rPr>
              <a:t>✦</a:t>
            </a:r>
          </a:p>
        </p:txBody>
      </p:sp>
      <p:sp>
        <p:nvSpPr>
          <p:cNvPr id="240" name="TextBox 113">
            <a:extLst>
              <a:ext uri="{FF2B5EF4-FFF2-40B4-BE49-F238E27FC236}">
                <a16:creationId xmlns:a16="http://schemas.microsoft.com/office/drawing/2014/main" id="{9EAD947E-2B0E-8A0F-7CC3-9CE76C744FB4}"/>
              </a:ext>
            </a:extLst>
          </p:cNvPr>
          <p:cNvSpPr txBox="1"/>
          <p:nvPr/>
        </p:nvSpPr>
        <p:spPr>
          <a:xfrm>
            <a:off x="12044083" y="7606259"/>
            <a:ext cx="5952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>
                <a:solidFill>
                  <a:srgbClr val="FFFFFF"/>
                </a:solidFill>
              </a:rPr>
              <a:t>Freemium pricing</a:t>
            </a:r>
          </a:p>
        </p:txBody>
      </p:sp>
      <p:sp>
        <p:nvSpPr>
          <p:cNvPr id="241" name="TextBox 114">
            <a:extLst>
              <a:ext uri="{FF2B5EF4-FFF2-40B4-BE49-F238E27FC236}">
                <a16:creationId xmlns:a16="http://schemas.microsoft.com/office/drawing/2014/main" id="{9B22CDCF-53EA-37F7-2652-5A7B6786B4BA}"/>
              </a:ext>
            </a:extLst>
          </p:cNvPr>
          <p:cNvSpPr txBox="1"/>
          <p:nvPr/>
        </p:nvSpPr>
        <p:spPr>
          <a:xfrm>
            <a:off x="12044083" y="7789139"/>
            <a:ext cx="595274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Free for small teams, affordable paid plans. No ₹40,000/month Salesforce trap for SMBs.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1A3A2CA-F1F0-9EE8-9C0D-7C8CCA34F816}"/>
              </a:ext>
            </a:extLst>
          </p:cNvPr>
          <p:cNvSpPr/>
          <p:nvPr/>
        </p:nvSpPr>
        <p:spPr>
          <a:xfrm>
            <a:off x="11788052" y="8145755"/>
            <a:ext cx="6208776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3" name="TextBox 116">
            <a:extLst>
              <a:ext uri="{FF2B5EF4-FFF2-40B4-BE49-F238E27FC236}">
                <a16:creationId xmlns:a16="http://schemas.microsoft.com/office/drawing/2014/main" id="{F5F87CE1-4177-466E-7D30-69DBA4ACF2BE}"/>
              </a:ext>
            </a:extLst>
          </p:cNvPr>
          <p:cNvSpPr txBox="1"/>
          <p:nvPr/>
        </p:nvSpPr>
        <p:spPr>
          <a:xfrm>
            <a:off x="11788052" y="8264627"/>
            <a:ext cx="6208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 i="0">
                <a:solidFill>
                  <a:srgbClr val="FDE499"/>
                </a:solidFill>
              </a:rPr>
              <a:t>TECH STACK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D1CCBC3A-3370-D273-2FCC-07D0EB54888E}"/>
              </a:ext>
            </a:extLst>
          </p:cNvPr>
          <p:cNvSpPr/>
          <p:nvPr/>
        </p:nvSpPr>
        <p:spPr>
          <a:xfrm>
            <a:off x="11788052" y="8447507"/>
            <a:ext cx="6208776" cy="16459"/>
          </a:xfrm>
          <a:prstGeom prst="rect">
            <a:avLst/>
          </a:prstGeom>
          <a:solidFill>
            <a:srgbClr val="FD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72B11580-3AB9-0B8B-1175-B8C9AED88B69}"/>
              </a:ext>
            </a:extLst>
          </p:cNvPr>
          <p:cNvSpPr/>
          <p:nvPr/>
        </p:nvSpPr>
        <p:spPr>
          <a:xfrm>
            <a:off x="11788052" y="8520659"/>
            <a:ext cx="3049524" cy="420624"/>
          </a:xfrm>
          <a:prstGeom prst="rect">
            <a:avLst/>
          </a:prstGeom>
          <a:solidFill>
            <a:srgbClr val="1A3558"/>
          </a:solidFill>
          <a:ln w="3810">
            <a:solidFill>
              <a:srgbClr val="2E5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6" name="TextBox 119">
            <a:extLst>
              <a:ext uri="{FF2B5EF4-FFF2-40B4-BE49-F238E27FC236}">
                <a16:creationId xmlns:a16="http://schemas.microsoft.com/office/drawing/2014/main" id="{EC2C9DBA-ABAC-8FE3-0E82-C168A842BA41}"/>
              </a:ext>
            </a:extLst>
          </p:cNvPr>
          <p:cNvSpPr txBox="1"/>
          <p:nvPr/>
        </p:nvSpPr>
        <p:spPr>
          <a:xfrm>
            <a:off x="11879492" y="8557235"/>
            <a:ext cx="2921508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50" b="1" i="0">
                <a:solidFill>
                  <a:srgbClr val="FDE499"/>
                </a:solidFill>
              </a:rPr>
              <a:t>FRONTEND</a:t>
            </a:r>
          </a:p>
        </p:txBody>
      </p:sp>
      <p:sp>
        <p:nvSpPr>
          <p:cNvPr id="247" name="TextBox 120">
            <a:extLst>
              <a:ext uri="{FF2B5EF4-FFF2-40B4-BE49-F238E27FC236}">
                <a16:creationId xmlns:a16="http://schemas.microsoft.com/office/drawing/2014/main" id="{369E4DF5-2203-5E83-5375-5608C075018F}"/>
              </a:ext>
            </a:extLst>
          </p:cNvPr>
          <p:cNvSpPr txBox="1"/>
          <p:nvPr/>
        </p:nvSpPr>
        <p:spPr>
          <a:xfrm>
            <a:off x="11879492" y="8721827"/>
            <a:ext cx="292150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React.js + Tailwind CSS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7C8DD139-B41D-120C-241F-C78DF2D306AA}"/>
              </a:ext>
            </a:extLst>
          </p:cNvPr>
          <p:cNvSpPr/>
          <p:nvPr/>
        </p:nvSpPr>
        <p:spPr>
          <a:xfrm>
            <a:off x="14947304" y="8520659"/>
            <a:ext cx="3049524" cy="420624"/>
          </a:xfrm>
          <a:prstGeom prst="rect">
            <a:avLst/>
          </a:prstGeom>
          <a:solidFill>
            <a:srgbClr val="1A3558"/>
          </a:solidFill>
          <a:ln w="3810">
            <a:solidFill>
              <a:srgbClr val="2E5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9" name="TextBox 122">
            <a:extLst>
              <a:ext uri="{FF2B5EF4-FFF2-40B4-BE49-F238E27FC236}">
                <a16:creationId xmlns:a16="http://schemas.microsoft.com/office/drawing/2014/main" id="{3DCD0AEA-A3B7-7D41-0682-FF3491F35D59}"/>
              </a:ext>
            </a:extLst>
          </p:cNvPr>
          <p:cNvSpPr txBox="1"/>
          <p:nvPr/>
        </p:nvSpPr>
        <p:spPr>
          <a:xfrm>
            <a:off x="15038744" y="8557235"/>
            <a:ext cx="2921508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50" b="1" i="0">
                <a:solidFill>
                  <a:srgbClr val="FDE499"/>
                </a:solidFill>
              </a:rPr>
              <a:t>BACKEND</a:t>
            </a:r>
          </a:p>
        </p:txBody>
      </p:sp>
      <p:sp>
        <p:nvSpPr>
          <p:cNvPr id="250" name="TextBox 123">
            <a:extLst>
              <a:ext uri="{FF2B5EF4-FFF2-40B4-BE49-F238E27FC236}">
                <a16:creationId xmlns:a16="http://schemas.microsoft.com/office/drawing/2014/main" id="{E47210D8-A8B1-BF4A-7CB6-FD11A325F944}"/>
              </a:ext>
            </a:extLst>
          </p:cNvPr>
          <p:cNvSpPr txBox="1"/>
          <p:nvPr/>
        </p:nvSpPr>
        <p:spPr>
          <a:xfrm>
            <a:off x="15038744" y="8721827"/>
            <a:ext cx="292150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Node.js + Express.js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0A946DB9-70D7-72B9-8CF5-DEE135075B02}"/>
              </a:ext>
            </a:extLst>
          </p:cNvPr>
          <p:cNvSpPr/>
          <p:nvPr/>
        </p:nvSpPr>
        <p:spPr>
          <a:xfrm>
            <a:off x="11788052" y="8996146"/>
            <a:ext cx="3049524" cy="420624"/>
          </a:xfrm>
          <a:prstGeom prst="rect">
            <a:avLst/>
          </a:prstGeom>
          <a:solidFill>
            <a:srgbClr val="1A3558"/>
          </a:solidFill>
          <a:ln w="3810">
            <a:solidFill>
              <a:srgbClr val="2E5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2" name="TextBox 125">
            <a:extLst>
              <a:ext uri="{FF2B5EF4-FFF2-40B4-BE49-F238E27FC236}">
                <a16:creationId xmlns:a16="http://schemas.microsoft.com/office/drawing/2014/main" id="{48F9B6D5-B678-E5E0-B094-21E7106B7D82}"/>
              </a:ext>
            </a:extLst>
          </p:cNvPr>
          <p:cNvSpPr txBox="1"/>
          <p:nvPr/>
        </p:nvSpPr>
        <p:spPr>
          <a:xfrm>
            <a:off x="11879492" y="9032722"/>
            <a:ext cx="2921508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50" b="1" i="0">
                <a:solidFill>
                  <a:srgbClr val="FDE499"/>
                </a:solidFill>
              </a:rPr>
              <a:t>DATABASE</a:t>
            </a:r>
          </a:p>
        </p:txBody>
      </p:sp>
      <p:sp>
        <p:nvSpPr>
          <p:cNvPr id="253" name="TextBox 126">
            <a:extLst>
              <a:ext uri="{FF2B5EF4-FFF2-40B4-BE49-F238E27FC236}">
                <a16:creationId xmlns:a16="http://schemas.microsoft.com/office/drawing/2014/main" id="{C2068622-DA03-C590-F9F3-9222E56D23DA}"/>
              </a:ext>
            </a:extLst>
          </p:cNvPr>
          <p:cNvSpPr txBox="1"/>
          <p:nvPr/>
        </p:nvSpPr>
        <p:spPr>
          <a:xfrm>
            <a:off x="11879492" y="9197315"/>
            <a:ext cx="292150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PostgreSQL (tenant_id scoped)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DE2CDCC-9AA7-51F7-E1F1-658AE688DA60}"/>
              </a:ext>
            </a:extLst>
          </p:cNvPr>
          <p:cNvSpPr/>
          <p:nvPr/>
        </p:nvSpPr>
        <p:spPr>
          <a:xfrm>
            <a:off x="14947304" y="8996146"/>
            <a:ext cx="3049524" cy="420624"/>
          </a:xfrm>
          <a:prstGeom prst="rect">
            <a:avLst/>
          </a:prstGeom>
          <a:solidFill>
            <a:srgbClr val="1A3558"/>
          </a:solidFill>
          <a:ln w="3810">
            <a:solidFill>
              <a:srgbClr val="2E5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5" name="TextBox 128">
            <a:extLst>
              <a:ext uri="{FF2B5EF4-FFF2-40B4-BE49-F238E27FC236}">
                <a16:creationId xmlns:a16="http://schemas.microsoft.com/office/drawing/2014/main" id="{BCA452A7-4AE9-DA06-D450-F3CEBE147865}"/>
              </a:ext>
            </a:extLst>
          </p:cNvPr>
          <p:cNvSpPr txBox="1"/>
          <p:nvPr/>
        </p:nvSpPr>
        <p:spPr>
          <a:xfrm>
            <a:off x="15038744" y="9032722"/>
            <a:ext cx="2921508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50" b="1" i="0">
                <a:solidFill>
                  <a:srgbClr val="FDE499"/>
                </a:solidFill>
              </a:rPr>
              <a:t>AUTH</a:t>
            </a:r>
          </a:p>
        </p:txBody>
      </p:sp>
      <p:sp>
        <p:nvSpPr>
          <p:cNvPr id="256" name="TextBox 129">
            <a:extLst>
              <a:ext uri="{FF2B5EF4-FFF2-40B4-BE49-F238E27FC236}">
                <a16:creationId xmlns:a16="http://schemas.microsoft.com/office/drawing/2014/main" id="{314EA480-1754-07E1-287E-83E5CCC1E528}"/>
              </a:ext>
            </a:extLst>
          </p:cNvPr>
          <p:cNvSpPr txBox="1"/>
          <p:nvPr/>
        </p:nvSpPr>
        <p:spPr>
          <a:xfrm>
            <a:off x="15038744" y="9197315"/>
            <a:ext cx="292150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JWT + Refresh Tokens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022D696F-B977-B483-C5C5-B7B10E310CDE}"/>
              </a:ext>
            </a:extLst>
          </p:cNvPr>
          <p:cNvSpPr/>
          <p:nvPr/>
        </p:nvSpPr>
        <p:spPr>
          <a:xfrm>
            <a:off x="11788052" y="9471634"/>
            <a:ext cx="3049524" cy="420624"/>
          </a:xfrm>
          <a:prstGeom prst="rect">
            <a:avLst/>
          </a:prstGeom>
          <a:solidFill>
            <a:srgbClr val="1A3558"/>
          </a:solidFill>
          <a:ln w="3810">
            <a:solidFill>
              <a:srgbClr val="2E5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8" name="TextBox 131">
            <a:extLst>
              <a:ext uri="{FF2B5EF4-FFF2-40B4-BE49-F238E27FC236}">
                <a16:creationId xmlns:a16="http://schemas.microsoft.com/office/drawing/2014/main" id="{16E711AD-9C86-3CCE-FEDD-374D4602BD5D}"/>
              </a:ext>
            </a:extLst>
          </p:cNvPr>
          <p:cNvSpPr txBox="1"/>
          <p:nvPr/>
        </p:nvSpPr>
        <p:spPr>
          <a:xfrm>
            <a:off x="11879492" y="9508210"/>
            <a:ext cx="2921508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50" b="1" i="0">
                <a:solidFill>
                  <a:srgbClr val="FDE499"/>
                </a:solidFill>
              </a:rPr>
              <a:t>HOSTING</a:t>
            </a:r>
          </a:p>
        </p:txBody>
      </p:sp>
      <p:sp>
        <p:nvSpPr>
          <p:cNvPr id="259" name="TextBox 132">
            <a:extLst>
              <a:ext uri="{FF2B5EF4-FFF2-40B4-BE49-F238E27FC236}">
                <a16:creationId xmlns:a16="http://schemas.microsoft.com/office/drawing/2014/main" id="{3EB99B5A-EAF3-E56F-5A8D-98593A2B36F5}"/>
              </a:ext>
            </a:extLst>
          </p:cNvPr>
          <p:cNvSpPr txBox="1"/>
          <p:nvPr/>
        </p:nvSpPr>
        <p:spPr>
          <a:xfrm>
            <a:off x="11879492" y="9672803"/>
            <a:ext cx="292150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AWS EC2 + RDS + S3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9B0604CC-1333-B59E-C85C-B34B63413833}"/>
              </a:ext>
            </a:extLst>
          </p:cNvPr>
          <p:cNvSpPr/>
          <p:nvPr/>
        </p:nvSpPr>
        <p:spPr>
          <a:xfrm>
            <a:off x="14947304" y="9471634"/>
            <a:ext cx="3049524" cy="420624"/>
          </a:xfrm>
          <a:prstGeom prst="rect">
            <a:avLst/>
          </a:prstGeom>
          <a:solidFill>
            <a:srgbClr val="1A3558"/>
          </a:solidFill>
          <a:ln w="3810">
            <a:solidFill>
              <a:srgbClr val="2E5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1" name="TextBox 134">
            <a:extLst>
              <a:ext uri="{FF2B5EF4-FFF2-40B4-BE49-F238E27FC236}">
                <a16:creationId xmlns:a16="http://schemas.microsoft.com/office/drawing/2014/main" id="{D7483257-42B0-5831-8AA8-C5737825E860}"/>
              </a:ext>
            </a:extLst>
          </p:cNvPr>
          <p:cNvSpPr txBox="1"/>
          <p:nvPr/>
        </p:nvSpPr>
        <p:spPr>
          <a:xfrm>
            <a:off x="15038744" y="9508210"/>
            <a:ext cx="2921508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50" b="1" i="0">
                <a:solidFill>
                  <a:srgbClr val="FDE499"/>
                </a:solidFill>
              </a:rPr>
              <a:t>SECURITY</a:t>
            </a:r>
          </a:p>
        </p:txBody>
      </p:sp>
      <p:sp>
        <p:nvSpPr>
          <p:cNvPr id="262" name="TextBox 135">
            <a:extLst>
              <a:ext uri="{FF2B5EF4-FFF2-40B4-BE49-F238E27FC236}">
                <a16:creationId xmlns:a16="http://schemas.microsoft.com/office/drawing/2014/main" id="{5C53ACC4-A3B4-9E9F-BAEE-9B14FC278370}"/>
              </a:ext>
            </a:extLst>
          </p:cNvPr>
          <p:cNvSpPr txBox="1"/>
          <p:nvPr/>
        </p:nvSpPr>
        <p:spPr>
          <a:xfrm>
            <a:off x="15038744" y="9672803"/>
            <a:ext cx="292150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 i="0">
                <a:solidFill>
                  <a:srgbClr val="D0DFF5"/>
                </a:solidFill>
              </a:rPr>
              <a:t>Custom RBAC Middleware</a:t>
            </a: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DF1E9D23-D4CC-EFE7-66F7-37B44ABE9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" y="-35935"/>
            <a:ext cx="4705429" cy="16966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MIT SCHOOL OF COMPUTING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IdeaSpark Poster Template (1) (1).pptx</dc:title>
  <dc:creator>Ibrahim Poonawala</dc:creator>
  <cp:keywords>DAGeHSUbPoE,BAGOaYWU2Yw,0</cp:keywords>
  <cp:revision>123</cp:revision>
  <dcterms:created xsi:type="dcterms:W3CDTF">2026-08-08T15:27:28Z</dcterms:created>
  <dcterms:modified xsi:type="dcterms:W3CDTF">2026-08-08T16:10:51Z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2025-08-19T00:00:00Z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2026-08-08T00:00:00Z</vt:filetime>
  </property>
  <property fmtid="{D5CDD505-2E9C-101B-9397-08002B2CF9AE}" pid="6" name="Producer">
    <vt:lpwstr>Microsoft® PowerPoint® 2021</vt:lpwstr>
  </property>
</Properties>
</file>