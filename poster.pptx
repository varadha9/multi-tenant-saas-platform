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371600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44168"/>
            <a:ext cx="18288000" cy="45720"/>
          </a:xfrm>
          <a:prstGeom prst="rect">
            <a:avLst/>
          </a:prstGeom>
          <a:solidFill>
            <a:srgbClr val="2E5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</a:rPr>
              <a:t>MIT SCHOOL OF COMPUTING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0175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E5395"/>
                </a:solidFill>
              </a:rPr>
              <a:t>DEPARTMENT OF INFORMATION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530352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Class: TY-SMAD  |  Group ID: LYSMAD05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713232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Guide: Prof. Reetika Kerketta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896112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Academic Year: 2024–25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91440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1A2E"/>
                </a:solidFill>
              </a:rPr>
              <a:t>Multi-Tenant SaaS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566928"/>
            <a:ext cx="9509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2E5395"/>
                </a:solidFill>
              </a:rPr>
              <a:t>One platform. Every business. Only what you need.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841248"/>
            <a:ext cx="9509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1A2E"/>
                </a:solidFill>
              </a:rPr>
              <a:t>1. Poonawala Ibrahim Hussain     2. Mandhare Varad Vikas     3. Tanmay Sudhir Shinde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0" y="18288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A1A2E"/>
                </a:solidFill>
              </a:rPr>
              <a:t>TY-SMAD  |  2024–25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0" y="41148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A1A2E"/>
                </a:solidFill>
              </a:rPr>
              <a:t>Node.js · React.js · PostgreSQL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0" y="64008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A1A2E"/>
                </a:solidFill>
              </a:rPr>
              <a:t>AWS · JWT · RBAC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417320"/>
            <a:ext cx="36576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03320" y="1417320"/>
            <a:ext cx="7223760" cy="8229600"/>
          </a:xfrm>
          <a:prstGeom prst="rect">
            <a:avLst/>
          </a:prstGeom>
          <a:solidFill>
            <a:srgbClr val="2E5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72800" y="1417320"/>
            <a:ext cx="7315200" cy="8229600"/>
          </a:xfrm>
          <a:prstGeom prst="rect">
            <a:avLst/>
          </a:prstGeom>
          <a:solidFill>
            <a:srgbClr val="2E5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66744" y="1417320"/>
            <a:ext cx="36576" cy="8229600"/>
          </a:xfrm>
          <a:prstGeom prst="rect">
            <a:avLst/>
          </a:prstGeom>
          <a:solidFill>
            <a:srgbClr val="2E5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36224" y="1417320"/>
            <a:ext cx="36576" cy="822960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39" y="1481328"/>
            <a:ext cx="3474720" cy="1920240"/>
          </a:xfrm>
          <a:prstGeom prst="rect">
            <a:avLst/>
          </a:prstGeom>
          <a:solidFill>
            <a:srgbClr val="0D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" y="155448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DE499"/>
                </a:solidFill>
              </a:rPr>
              <a:t>PROBLEM STATEMENT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" y="1755648"/>
            <a:ext cx="3383280" cy="18288"/>
          </a:xfrm>
          <a:prstGeom prst="rect">
            <a:avLst/>
          </a:prstGeom>
          <a:solidFill>
            <a:srgbClr val="FD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" y="182880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D0DFF5"/>
                </a:solidFill>
              </a:rPr>
              <a:t>India's 63 million small businesses run on WhatsApp groups, shared Excel files, and paper registers.</a:t>
            </a:r>
          </a:p>
          <a:p>
            <a:pPr algn="l"/>
            <a:r>
              <a:rPr sz="750" b="0">
                <a:solidFill>
                  <a:srgbClr val="D0DFF5"/>
                </a:solidFill>
              </a:rPr>
              <a:t/>
            </a:r>
          </a:p>
          <a:p>
            <a:pPr algn="l"/>
            <a:r>
              <a:rPr sz="750" b="0">
                <a:solidFill>
                  <a:srgbClr val="D0DFF5"/>
                </a:solidFill>
              </a:rPr>
              <a:t>Their data is scattered, unsecured, and disconnected across tools that don't talk to each other.</a:t>
            </a:r>
          </a:p>
          <a:p>
            <a:pPr algn="l"/>
            <a:r>
              <a:rPr sz="750" b="0">
                <a:solidFill>
                  <a:srgbClr val="D0DFF5"/>
                </a:solidFill>
              </a:rPr>
              <a:t/>
            </a:r>
          </a:p>
          <a:p>
            <a:pPr algn="l"/>
            <a:r>
              <a:rPr sz="750" b="0">
                <a:solidFill>
                  <a:srgbClr val="D0DFF5"/>
                </a:solidFill>
              </a:rPr>
              <a:t>Enterprise tools like Salesforce cost ₹40,000+/month and take months to set up — completely out of reach for small teams.</a:t>
            </a:r>
          </a:p>
          <a:p>
            <a:pPr algn="l"/>
            <a:r>
              <a:rPr sz="750" b="0">
                <a:solidFill>
                  <a:srgbClr val="D0DFF5"/>
                </a:solidFill>
              </a:rPr>
              <a:t/>
            </a:r>
          </a:p>
          <a:p>
            <a:pPr algn="l"/>
            <a:r>
              <a:rPr sz="750" b="0">
                <a:solidFill>
                  <a:srgbClr val="D0DFF5"/>
                </a:solidFill>
              </a:rPr>
              <a:t>There is no affordable, simple, all-in-one solution built for them.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352044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E5395"/>
                </a:solidFill>
              </a:rPr>
              <a:t>USER EMPATHY MAP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" y="3721608"/>
            <a:ext cx="3383280" cy="18288"/>
          </a:xfrm>
          <a:prstGeom prst="rect">
            <a:avLst/>
          </a:prstGeom>
          <a:solidFill>
            <a:srgbClr val="2E5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37160" y="3794760"/>
            <a:ext cx="1655064" cy="1417320"/>
          </a:xfrm>
          <a:prstGeom prst="rect">
            <a:avLst/>
          </a:prstGeom>
          <a:solidFill>
            <a:srgbClr val="FDE499"/>
          </a:solidFill>
          <a:ln w="6350">
            <a:solidFill>
              <a:srgbClr val="E6C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0311" y="3849624"/>
            <a:ext cx="15636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A5C00"/>
                </a:solidFill>
              </a:rPr>
              <a:t>💬 SAYS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1" y="4050792"/>
            <a:ext cx="156362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A1A2E"/>
                </a:solidFill>
              </a:rPr>
              <a:t>"Our stock data is on my manager's laptop."</a:t>
            </a:r>
          </a:p>
          <a:p>
            <a:pPr algn="l"/>
            <a:r>
              <a:rPr sz="750" b="0">
                <a:solidFill>
                  <a:srgbClr val="1A1A2E"/>
                </a:solidFill>
              </a:rPr>
              <a:t>"We track leads on WhatsApp — it's a mess."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65376" y="3794760"/>
            <a:ext cx="1655064" cy="1417320"/>
          </a:xfrm>
          <a:prstGeom prst="rect">
            <a:avLst/>
          </a:prstGeom>
          <a:solidFill>
            <a:srgbClr val="FFB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38528" y="3849624"/>
            <a:ext cx="15636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B0040"/>
                </a:solidFill>
              </a:rPr>
              <a:t>❤️ FEELS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38528" y="4050792"/>
            <a:ext cx="156362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A1A2E"/>
                </a:solidFill>
              </a:rPr>
              <a:t>Frustrated by constant data loss.</a:t>
            </a:r>
          </a:p>
          <a:p>
            <a:pPr algn="l"/>
            <a:r>
              <a:rPr sz="750" b="0">
                <a:solidFill>
                  <a:srgbClr val="1A1A2E"/>
                </a:solidFill>
              </a:rPr>
              <a:t>Anxious about scaling with no proper system in place.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" y="5303520"/>
            <a:ext cx="1655064" cy="1417320"/>
          </a:xfrm>
          <a:prstGeom prst="rect">
            <a:avLst/>
          </a:prstGeom>
          <a:solidFill>
            <a:srgbClr val="A5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0311" y="5358384"/>
            <a:ext cx="15636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4A4E"/>
                </a:solidFill>
              </a:rPr>
              <a:t>💭 THINKS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1" y="5559552"/>
            <a:ext cx="156362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A1A2E"/>
                </a:solidFill>
              </a:rPr>
              <a:t>"There must be a better way but it's too expensive."</a:t>
            </a:r>
          </a:p>
          <a:p>
            <a:pPr algn="l"/>
            <a:r>
              <a:rPr sz="750" b="0">
                <a:solidFill>
                  <a:srgbClr val="1A1A2E"/>
                </a:solidFill>
              </a:rPr>
              <a:t>"I don't have time to learn complex software."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65376" y="5303520"/>
            <a:ext cx="1655064" cy="1417320"/>
          </a:xfrm>
          <a:prstGeom prst="rect">
            <a:avLst/>
          </a:prstGeom>
          <a:solidFill>
            <a:srgbClr val="D0B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38528" y="5358384"/>
            <a:ext cx="15636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D1A7A"/>
                </a:solidFill>
              </a:rPr>
              <a:t>🖐 DOES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38528" y="5559552"/>
            <a:ext cx="156362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A1A2E"/>
                </a:solidFill>
              </a:rPr>
              <a:t>Maintains 4–5 disconnected spreadsheets.</a:t>
            </a:r>
          </a:p>
          <a:p>
            <a:pPr algn="l"/>
            <a:r>
              <a:rPr sz="750" b="0">
                <a:solidFill>
                  <a:srgbClr val="1A1A2E"/>
                </a:solidFill>
              </a:rPr>
              <a:t>Uses WhatsApp for operations and customer support.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39" y="6830568"/>
            <a:ext cx="3474720" cy="1417320"/>
          </a:xfrm>
          <a:prstGeom prst="rect">
            <a:avLst/>
          </a:prstGeom>
          <a:solidFill>
            <a:srgbClr val="EEF2FA"/>
          </a:solidFill>
          <a:ln w="6350">
            <a:solidFill>
              <a:srgbClr val="C5D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7160" y="690372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E5395"/>
                </a:solidFill>
              </a:rPr>
              <a:t>SCOPE &amp; FEASIBILITY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7160" y="7104888"/>
            <a:ext cx="3383280" cy="18288"/>
          </a:xfrm>
          <a:prstGeom prst="rect">
            <a:avLst/>
          </a:prstGeom>
          <a:solidFill>
            <a:srgbClr val="2E5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7160" y="717804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444444"/>
                </a:solidFill>
              </a:rPr>
              <a:t>Technically feasible using React.js, Node.js + Express, PostgreSQL with tenant-scoped queries, and AWS hosting.</a:t>
            </a:r>
          </a:p>
          <a:p>
            <a:pPr algn="l"/>
            <a:r>
              <a:rPr sz="750" b="0">
                <a:solidFill>
                  <a:srgbClr val="444444"/>
                </a:solidFill>
              </a:rPr>
              <a:t/>
            </a:r>
          </a:p>
          <a:p>
            <a:pPr algn="l"/>
            <a:r>
              <a:rPr sz="750" b="0">
                <a:solidFill>
                  <a:srgbClr val="444444"/>
                </a:solidFill>
              </a:rPr>
              <a:t>MVP covers 4 modules for Indian SMBs. Architecture supports future expansion: additional modules, third-party marketplace, and white-labeling.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0" y="1554480"/>
            <a:ext cx="6949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DE499"/>
                </a:solidFill>
              </a:rPr>
              <a:t>IDEATION — KEY OBJECTIVES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0" y="1755648"/>
            <a:ext cx="6949440" cy="18288"/>
          </a:xfrm>
          <a:prstGeom prst="rect">
            <a:avLst/>
          </a:prstGeom>
          <a:solidFill>
            <a:srgbClr val="FD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840480" y="1847088"/>
            <a:ext cx="256032" cy="256032"/>
          </a:xfrm>
          <a:prstGeom prst="ellipse">
            <a:avLst/>
          </a:prstGeom>
          <a:solidFill>
            <a:srgbClr val="FD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60520" y="1847088"/>
            <a:ext cx="6629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Multi-Tenant Workspaces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60520" y="2029968"/>
            <a:ext cx="6629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0DFF5"/>
                </a:solidFill>
              </a:rPr>
              <a:t>Every business gets a fully isolated workspace with its own subdomain (acme.platform.com). Data is scoped at the database level — no business can ever see another's data.</a:t>
            </a:r>
          </a:p>
        </p:txBody>
      </p:sp>
      <p:sp>
        <p:nvSpPr>
          <p:cNvPr id="47" name="Oval 46"/>
          <p:cNvSpPr/>
          <p:nvPr/>
        </p:nvSpPr>
        <p:spPr>
          <a:xfrm>
            <a:off x="3840480" y="2377440"/>
            <a:ext cx="256032" cy="256032"/>
          </a:xfrm>
          <a:prstGeom prst="ellipse">
            <a:avLst/>
          </a:prstGeom>
          <a:solidFill>
            <a:srgbClr val="FD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60520" y="2377440"/>
            <a:ext cx="6629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Plug-and-Play Module System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60520" y="2560320"/>
            <a:ext cx="6629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0DFF5"/>
                </a:solidFill>
              </a:rPr>
              <a:t>Businesses activate only what they need: CRM, Inventory, HRMS, or HelpDesk. Unused modules stay off. Data is preserved when reactivated.</a:t>
            </a:r>
          </a:p>
        </p:txBody>
      </p:sp>
      <p:sp>
        <p:nvSpPr>
          <p:cNvPr id="50" name="Oval 49"/>
          <p:cNvSpPr/>
          <p:nvPr/>
        </p:nvSpPr>
        <p:spPr>
          <a:xfrm>
            <a:off x="3840480" y="2907792"/>
            <a:ext cx="256032" cy="256032"/>
          </a:xfrm>
          <a:prstGeom prst="ellipse">
            <a:avLst/>
          </a:prstGeom>
          <a:solidFill>
            <a:srgbClr val="FD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60520" y="2907792"/>
            <a:ext cx="6629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Role-Based Access Control (RBAC)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60520" y="3090672"/>
            <a:ext cx="6629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0DFF5"/>
                </a:solidFill>
              </a:rPr>
              <a:t>Four roles: Owner → Admin → Manager → Staff. Enforced at the API middleware level on every request — not just hidden in the UI.</a:t>
            </a:r>
          </a:p>
        </p:txBody>
      </p:sp>
      <p:sp>
        <p:nvSpPr>
          <p:cNvPr id="53" name="Oval 52"/>
          <p:cNvSpPr/>
          <p:nvPr/>
        </p:nvSpPr>
        <p:spPr>
          <a:xfrm>
            <a:off x="3840480" y="3438144"/>
            <a:ext cx="256032" cy="256032"/>
          </a:xfrm>
          <a:prstGeom prst="ellipse">
            <a:avLst/>
          </a:prstGeom>
          <a:solidFill>
            <a:srgbClr val="FD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60520" y="3438144"/>
            <a:ext cx="6629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Unified Data Across Modules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60520" y="3621024"/>
            <a:ext cx="6629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0DFF5"/>
                </a:solidFill>
              </a:rPr>
              <a:t>All modules share one database. A contact in CRM is the same record linked in HelpDesk. No more reconciling data across disconnected tools.</a:t>
            </a:r>
          </a:p>
        </p:txBody>
      </p:sp>
      <p:sp>
        <p:nvSpPr>
          <p:cNvPr id="56" name="Oval 55"/>
          <p:cNvSpPr/>
          <p:nvPr/>
        </p:nvSpPr>
        <p:spPr>
          <a:xfrm>
            <a:off x="3840480" y="3968496"/>
            <a:ext cx="256032" cy="256032"/>
          </a:xfrm>
          <a:prstGeom prst="ellipse">
            <a:avLst/>
          </a:prstGeom>
          <a:solidFill>
            <a:srgbClr val="FD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A1A2E"/>
                </a:solidFill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60520" y="3968496"/>
            <a:ext cx="6629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Affordable &amp; Instant Setup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60520" y="4151376"/>
            <a:ext cx="6629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0DFF5"/>
                </a:solidFill>
              </a:rPr>
              <a:t>Freemium model. No per-user pricing trap. A business can sign up and be fully operational in under 10 minutes.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40480" y="4590288"/>
            <a:ext cx="694944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40480" y="4700016"/>
            <a:ext cx="6949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DE499"/>
                </a:solidFill>
              </a:rPr>
              <a:t>PLATFORM MODULES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40480" y="4901183"/>
            <a:ext cx="6949440" cy="18288"/>
          </a:xfrm>
          <a:prstGeom prst="rect">
            <a:avLst/>
          </a:prstGeom>
          <a:solidFill>
            <a:srgbClr val="FD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840480" y="4992624"/>
            <a:ext cx="3429000" cy="594360"/>
          </a:xfrm>
          <a:prstGeom prst="rect">
            <a:avLst/>
          </a:prstGeom>
          <a:solidFill>
            <a:srgbClr val="EEF2FA"/>
          </a:solidFill>
          <a:ln w="6350">
            <a:solidFill>
              <a:srgbClr val="C5D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840480" y="4992624"/>
            <a:ext cx="36576" cy="594360"/>
          </a:xfrm>
          <a:prstGeom prst="rect">
            <a:avLst/>
          </a:prstGeom>
          <a:solidFill>
            <a:srgbClr val="2E5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931920" y="5047488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5395"/>
                </a:solidFill>
              </a:rPr>
              <a:t>📊 CRM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31920" y="524865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44444"/>
                </a:solidFill>
              </a:rPr>
              <a:t>Leads, contacts, deals &amp; sales pipeline for sales teams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360920" y="4992624"/>
            <a:ext cx="3429000" cy="594360"/>
          </a:xfrm>
          <a:prstGeom prst="rect">
            <a:avLst/>
          </a:prstGeom>
          <a:solidFill>
            <a:srgbClr val="EEF2FA"/>
          </a:solidFill>
          <a:ln w="6350">
            <a:solidFill>
              <a:srgbClr val="C5D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360920" y="4992624"/>
            <a:ext cx="36576" cy="594360"/>
          </a:xfrm>
          <a:prstGeom prst="rect">
            <a:avLst/>
          </a:prstGeom>
          <a:solidFill>
            <a:srgbClr val="2E5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452360" y="5047488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5395"/>
                </a:solidFill>
              </a:rPr>
              <a:t>📦 Inventory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52360" y="524865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44444"/>
                </a:solidFill>
              </a:rPr>
              <a:t>Products, stock levels, orders &amp; supplier management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840480" y="5650992"/>
            <a:ext cx="3429000" cy="594360"/>
          </a:xfrm>
          <a:prstGeom prst="rect">
            <a:avLst/>
          </a:prstGeom>
          <a:solidFill>
            <a:srgbClr val="EEF2FA"/>
          </a:solidFill>
          <a:ln w="6350">
            <a:solidFill>
              <a:srgbClr val="C5D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840480" y="5650992"/>
            <a:ext cx="36576" cy="594360"/>
          </a:xfrm>
          <a:prstGeom prst="rect">
            <a:avLst/>
          </a:prstGeom>
          <a:solidFill>
            <a:srgbClr val="2E5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931920" y="5705855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5395"/>
                </a:solidFill>
              </a:rPr>
              <a:t>👥 HRMS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931920" y="5907024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44444"/>
                </a:solidFill>
              </a:rPr>
              <a:t>Employees, attendance, leave management &amp; payroll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360920" y="5650992"/>
            <a:ext cx="3429000" cy="594360"/>
          </a:xfrm>
          <a:prstGeom prst="rect">
            <a:avLst/>
          </a:prstGeom>
          <a:solidFill>
            <a:srgbClr val="EEF2FA"/>
          </a:solidFill>
          <a:ln w="6350">
            <a:solidFill>
              <a:srgbClr val="C5D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360920" y="5650992"/>
            <a:ext cx="36576" cy="594360"/>
          </a:xfrm>
          <a:prstGeom prst="rect">
            <a:avLst/>
          </a:prstGeom>
          <a:solidFill>
            <a:srgbClr val="2E5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452360" y="5705855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5395"/>
                </a:solidFill>
              </a:rPr>
              <a:t>🎫 HelpDesk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452360" y="5907024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44444"/>
                </a:solidFill>
              </a:rPr>
              <a:t>Support tickets, agent assignment &amp; resolution tracking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840480" y="6409944"/>
            <a:ext cx="694944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840480" y="6519672"/>
            <a:ext cx="6949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DE499"/>
                </a:solidFill>
              </a:rPr>
              <a:t>ROLE-BASED ACCESS CONTROL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840480" y="6720840"/>
            <a:ext cx="6949440" cy="18288"/>
          </a:xfrm>
          <a:prstGeom prst="rect">
            <a:avLst/>
          </a:prstGeom>
          <a:solidFill>
            <a:srgbClr val="FD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840480" y="6812280"/>
            <a:ext cx="822960" cy="219456"/>
          </a:xfrm>
          <a:prstGeom prst="rect">
            <a:avLst/>
          </a:prstGeom>
          <a:solidFill>
            <a:srgbClr val="FD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7A5C00"/>
                </a:solidFill>
              </a:rPr>
              <a:t>Owner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736592" y="6830568"/>
            <a:ext cx="6035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0DFF5"/>
                </a:solidFill>
              </a:rPr>
              <a:t>Full control — billing, workspace deletion, all settings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840480" y="7104888"/>
            <a:ext cx="822960" cy="219456"/>
          </a:xfrm>
          <a:prstGeom prst="rect">
            <a:avLst/>
          </a:prstGeom>
          <a:solidFill>
            <a:srgbClr val="FF9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736592" y="7123176"/>
            <a:ext cx="6035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0DFF5"/>
                </a:solidFill>
              </a:rPr>
              <a:t>Manage members, activate modules, all operational access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840480" y="7397496"/>
            <a:ext cx="822960" cy="219456"/>
          </a:xfrm>
          <a:prstGeom prst="rect">
            <a:avLst/>
          </a:prstGeom>
          <a:solidFill>
            <a:srgbClr val="A5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A4A4E"/>
                </a:solidFill>
              </a:rPr>
              <a:t>Manager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736592" y="7415783"/>
            <a:ext cx="6035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0DFF5"/>
                </a:solidFill>
              </a:rPr>
              <a:t>Approve leaves, assign tickets, manage within module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840480" y="7690104"/>
            <a:ext cx="822960" cy="219456"/>
          </a:xfrm>
          <a:prstGeom prst="rect">
            <a:avLst/>
          </a:prstGeom>
          <a:solidFill>
            <a:srgbClr val="D0B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3D1A7A"/>
                </a:solidFill>
              </a:rPr>
              <a:t>Staff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736592" y="7708392"/>
            <a:ext cx="6035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0DFF5"/>
                </a:solidFill>
              </a:rPr>
              <a:t>Day-to-day work — create &amp; update records, cannot delete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1109960" y="1554480"/>
            <a:ext cx="7040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DE499"/>
                </a:solidFill>
              </a:rPr>
              <a:t>APP FLOW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1109960" y="1755648"/>
            <a:ext cx="7040880" cy="18288"/>
          </a:xfrm>
          <a:prstGeom prst="rect">
            <a:avLst/>
          </a:prstGeom>
          <a:solidFill>
            <a:srgbClr val="FD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1109960" y="1847088"/>
            <a:ext cx="256032" cy="256032"/>
          </a:xfrm>
          <a:prstGeom prst="ellipse">
            <a:avLst/>
          </a:prstGeom>
          <a:solidFill>
            <a:srgbClr val="FD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50" b="1">
                <a:solidFill>
                  <a:srgbClr val="1A1A2E"/>
                </a:solidFill>
              </a:rPr>
              <a:t>01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430000" y="1847088"/>
            <a:ext cx="6720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Sign Up &amp; Create Workspace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430000" y="2029968"/>
            <a:ext cx="6720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0DFF5"/>
                </a:solidFill>
              </a:rPr>
              <a:t>Business owner registers → isolated workspace created with unique subdomain instantly.</a:t>
            </a:r>
          </a:p>
        </p:txBody>
      </p:sp>
      <p:sp>
        <p:nvSpPr>
          <p:cNvPr id="94" name="Oval 93"/>
          <p:cNvSpPr/>
          <p:nvPr/>
        </p:nvSpPr>
        <p:spPr>
          <a:xfrm>
            <a:off x="11109960" y="2377440"/>
            <a:ext cx="256032" cy="256032"/>
          </a:xfrm>
          <a:prstGeom prst="ellipse">
            <a:avLst/>
          </a:prstGeom>
          <a:solidFill>
            <a:srgbClr val="FD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50" b="1">
                <a:solidFill>
                  <a:srgbClr val="1A1A2E"/>
                </a:solidFill>
              </a:rPr>
              <a:t>02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430000" y="2377440"/>
            <a:ext cx="6720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Activate Modules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430000" y="2560320"/>
            <a:ext cx="6720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0DFF5"/>
                </a:solidFill>
              </a:rPr>
              <a:t>Toggle on CRM, Inventory, HRMS, or HelpDesk from workspace settings. Only pay for what you use.</a:t>
            </a:r>
          </a:p>
        </p:txBody>
      </p:sp>
      <p:sp>
        <p:nvSpPr>
          <p:cNvPr id="97" name="Oval 96"/>
          <p:cNvSpPr/>
          <p:nvPr/>
        </p:nvSpPr>
        <p:spPr>
          <a:xfrm>
            <a:off x="11109960" y="2907792"/>
            <a:ext cx="256032" cy="256032"/>
          </a:xfrm>
          <a:prstGeom prst="ellipse">
            <a:avLst/>
          </a:prstGeom>
          <a:solidFill>
            <a:srgbClr val="FD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50" b="1">
                <a:solidFill>
                  <a:srgbClr val="1A1A2E"/>
                </a:solidFill>
              </a:rPr>
              <a:t>03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1430000" y="2907792"/>
            <a:ext cx="6720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Invite Team &amp; Assign Roles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1430000" y="3090672"/>
            <a:ext cx="6720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0DFF5"/>
                </a:solidFill>
              </a:rPr>
              <a:t>Send email invites to team members. Assign Owner / Admin / Manager / Staff roles per person.</a:t>
            </a:r>
          </a:p>
        </p:txBody>
      </p:sp>
      <p:sp>
        <p:nvSpPr>
          <p:cNvPr id="100" name="Oval 99"/>
          <p:cNvSpPr/>
          <p:nvPr/>
        </p:nvSpPr>
        <p:spPr>
          <a:xfrm>
            <a:off x="11109960" y="3438144"/>
            <a:ext cx="256032" cy="256032"/>
          </a:xfrm>
          <a:prstGeom prst="ellipse">
            <a:avLst/>
          </a:prstGeom>
          <a:solidFill>
            <a:srgbClr val="FD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50" b="1">
                <a:solidFill>
                  <a:srgbClr val="1A1A2E"/>
                </a:solidFill>
              </a:rPr>
              <a:t>04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1430000" y="3438144"/>
            <a:ext cx="6720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Start Working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1430000" y="3621024"/>
            <a:ext cx="6720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0DFF5"/>
                </a:solidFill>
              </a:rPr>
              <a:t>Sidebar shows only active modules. Every user sees only what their role permits.</a:t>
            </a:r>
          </a:p>
        </p:txBody>
      </p:sp>
      <p:sp>
        <p:nvSpPr>
          <p:cNvPr id="103" name="Oval 102"/>
          <p:cNvSpPr/>
          <p:nvPr/>
        </p:nvSpPr>
        <p:spPr>
          <a:xfrm>
            <a:off x="11109960" y="3968496"/>
            <a:ext cx="256032" cy="256032"/>
          </a:xfrm>
          <a:prstGeom prst="ellipse">
            <a:avLst/>
          </a:prstGeom>
          <a:solidFill>
            <a:srgbClr val="FD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50" b="1">
                <a:solidFill>
                  <a:srgbClr val="1A1A2E"/>
                </a:solidFill>
              </a:rPr>
              <a:t>05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430000" y="3968496"/>
            <a:ext cx="6720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Full Audit Trail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430000" y="4151376"/>
            <a:ext cx="6720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0DFF5"/>
                </a:solidFill>
              </a:rPr>
              <a:t>Every action is logged — who created, edited, or deleted what, and when. Data stays in the cloud.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1109960" y="4590288"/>
            <a:ext cx="704088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1109960" y="4700016"/>
            <a:ext cx="7040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DE499"/>
                </a:solidFill>
              </a:rPr>
              <a:t>PROPOSED SOLUTION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1109960" y="4901183"/>
            <a:ext cx="7040880" cy="18288"/>
          </a:xfrm>
          <a:prstGeom prst="rect">
            <a:avLst/>
          </a:prstGeom>
          <a:solidFill>
            <a:srgbClr val="FD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1109960" y="5020056"/>
            <a:ext cx="182880" cy="182880"/>
          </a:xfrm>
          <a:prstGeom prst="ellipse">
            <a:avLst/>
          </a:prstGeom>
          <a:solidFill>
            <a:srgbClr val="FD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>
                <a:solidFill>
                  <a:srgbClr val="1A1A2E"/>
                </a:solidFill>
              </a:rPr>
              <a:t>✦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1365992" y="4992624"/>
            <a:ext cx="67848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Platform, not a product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1365992" y="5157216"/>
            <a:ext cx="6784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0DFF5"/>
                </a:solidFill>
              </a:rPr>
              <a:t>Businesses assemble their own toolset by activating modules — like Shopify apps.</a:t>
            </a:r>
          </a:p>
        </p:txBody>
      </p:sp>
      <p:sp>
        <p:nvSpPr>
          <p:cNvPr id="112" name="Oval 111"/>
          <p:cNvSpPr/>
          <p:nvPr/>
        </p:nvSpPr>
        <p:spPr>
          <a:xfrm>
            <a:off x="11109960" y="5477256"/>
            <a:ext cx="182880" cy="182880"/>
          </a:xfrm>
          <a:prstGeom prst="ellipse">
            <a:avLst/>
          </a:prstGeom>
          <a:solidFill>
            <a:srgbClr val="FD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>
                <a:solidFill>
                  <a:srgbClr val="1A1A2E"/>
                </a:solidFill>
              </a:rPr>
              <a:t>✦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1365992" y="5449824"/>
            <a:ext cx="67848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True data isolation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365992" y="5614416"/>
            <a:ext cx="6784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0DFF5"/>
                </a:solidFill>
              </a:rPr>
              <a:t>Every query is scoped with tenant_id at the database level, not just the UI.</a:t>
            </a:r>
          </a:p>
        </p:txBody>
      </p:sp>
      <p:sp>
        <p:nvSpPr>
          <p:cNvPr id="115" name="Oval 114"/>
          <p:cNvSpPr/>
          <p:nvPr/>
        </p:nvSpPr>
        <p:spPr>
          <a:xfrm>
            <a:off x="11109960" y="5934456"/>
            <a:ext cx="182880" cy="182880"/>
          </a:xfrm>
          <a:prstGeom prst="ellipse">
            <a:avLst/>
          </a:prstGeom>
          <a:solidFill>
            <a:srgbClr val="FD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>
                <a:solidFill>
                  <a:srgbClr val="1A1A2E"/>
                </a:solidFill>
              </a:rPr>
              <a:t>✦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1365992" y="5907024"/>
            <a:ext cx="67848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Middleware-enforced security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1365992" y="6071616"/>
            <a:ext cx="6784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0DFF5"/>
                </a:solidFill>
              </a:rPr>
              <a:t>Auth → Tenant → RBAC → Module checks on every single API request.</a:t>
            </a:r>
          </a:p>
        </p:txBody>
      </p:sp>
      <p:sp>
        <p:nvSpPr>
          <p:cNvPr id="118" name="Oval 117"/>
          <p:cNvSpPr/>
          <p:nvPr/>
        </p:nvSpPr>
        <p:spPr>
          <a:xfrm>
            <a:off x="11109960" y="6391656"/>
            <a:ext cx="182880" cy="182880"/>
          </a:xfrm>
          <a:prstGeom prst="ellipse">
            <a:avLst/>
          </a:prstGeom>
          <a:solidFill>
            <a:srgbClr val="FD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>
                <a:solidFill>
                  <a:srgbClr val="1A1A2E"/>
                </a:solidFill>
              </a:rPr>
              <a:t>✦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365992" y="6364224"/>
            <a:ext cx="67848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Freemium pricing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1365992" y="6528816"/>
            <a:ext cx="6784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0DFF5"/>
                </a:solidFill>
              </a:rPr>
              <a:t>Free for small teams, affordable paid plans. No ₹40,000/month Salesforce trap.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1109960" y="6867144"/>
            <a:ext cx="704088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1109960" y="6976872"/>
            <a:ext cx="7040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DE499"/>
                </a:solidFill>
              </a:rPr>
              <a:t>TECH STACK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1109960" y="7178040"/>
            <a:ext cx="7040880" cy="18288"/>
          </a:xfrm>
          <a:prstGeom prst="rect">
            <a:avLst/>
          </a:prstGeom>
          <a:solidFill>
            <a:srgbClr val="FD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1109960" y="7269480"/>
            <a:ext cx="3474720" cy="402336"/>
          </a:xfrm>
          <a:prstGeom prst="rect">
            <a:avLst/>
          </a:prstGeom>
          <a:solidFill>
            <a:srgbClr val="1A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1183112" y="7306056"/>
            <a:ext cx="3383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FDE499"/>
                </a:solidFill>
              </a:rPr>
              <a:t>FRONTEND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1183112" y="7452360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0DFF5"/>
                </a:solidFill>
              </a:rPr>
              <a:t>React.js + Tailwind CSS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4676120" y="7269480"/>
            <a:ext cx="3474720" cy="402336"/>
          </a:xfrm>
          <a:prstGeom prst="rect">
            <a:avLst/>
          </a:prstGeom>
          <a:solidFill>
            <a:srgbClr val="1A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4749272" y="7306056"/>
            <a:ext cx="3383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FDE499"/>
                </a:solidFill>
              </a:rPr>
              <a:t>BACKEND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4749272" y="7452360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0DFF5"/>
                </a:solidFill>
              </a:rPr>
              <a:t>Node.js + Express.js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1109960" y="7726679"/>
            <a:ext cx="3474720" cy="402336"/>
          </a:xfrm>
          <a:prstGeom prst="rect">
            <a:avLst/>
          </a:prstGeom>
          <a:solidFill>
            <a:srgbClr val="1A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1183112" y="7763255"/>
            <a:ext cx="3383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FDE499"/>
                </a:solidFill>
              </a:rPr>
              <a:t>DATABASE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1183112" y="7909559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0DFF5"/>
                </a:solidFill>
              </a:rPr>
              <a:t>PostgreSQL (tenant_id scoped)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4676120" y="7726679"/>
            <a:ext cx="3474720" cy="402336"/>
          </a:xfrm>
          <a:prstGeom prst="rect">
            <a:avLst/>
          </a:prstGeom>
          <a:solidFill>
            <a:srgbClr val="1A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4749272" y="7763255"/>
            <a:ext cx="3383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FDE499"/>
                </a:solidFill>
              </a:rPr>
              <a:t>AUTH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4749272" y="7909559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0DFF5"/>
                </a:solidFill>
              </a:rPr>
              <a:t>JWT + Refresh Tokens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1109960" y="8183879"/>
            <a:ext cx="3474720" cy="402336"/>
          </a:xfrm>
          <a:prstGeom prst="rect">
            <a:avLst/>
          </a:prstGeom>
          <a:solidFill>
            <a:srgbClr val="1A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1183112" y="8220455"/>
            <a:ext cx="3383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FDE499"/>
                </a:solidFill>
              </a:rPr>
              <a:t>HOSTING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1183112" y="8366759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0DFF5"/>
                </a:solidFill>
              </a:rPr>
              <a:t>AWS EC2 + RDS + S3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4676120" y="8183879"/>
            <a:ext cx="3474720" cy="402336"/>
          </a:xfrm>
          <a:prstGeom prst="rect">
            <a:avLst/>
          </a:prstGeom>
          <a:solidFill>
            <a:srgbClr val="1A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4749272" y="8220455"/>
            <a:ext cx="3383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FDE499"/>
                </a:solidFill>
              </a:rPr>
              <a:t>SECURITY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4749272" y="8366759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0DFF5"/>
                </a:solidFill>
              </a:rPr>
              <a:t>Custom RBAC Middleware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0" y="9738360"/>
            <a:ext cx="18288000" cy="548640"/>
          </a:xfrm>
          <a:prstGeom prst="rect">
            <a:avLst/>
          </a:prstGeom>
          <a:solidFill>
            <a:srgbClr val="091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274320" y="9802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A9CC0"/>
                </a:solidFill>
              </a:rPr>
              <a:t>MIT School of Computing  |  Dept. of Information Technology  |  TY-SMAD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943600" y="980236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DE499"/>
                </a:solidFill>
              </a:rPr>
              <a:t>Multi-Tenant SaaS Platform  ·  Group LYSMAD05  ·  2024–25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2801600" y="980236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A9CC0"/>
                </a:solidFill>
              </a:rPr>
              <a:t>Guide: Prof. Reetika Kerketta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