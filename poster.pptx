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335024"/>
          </a:xfrm>
          <a:prstGeom prst="rect">
            <a:avLst/>
          </a:prstGeom>
          <a:solidFill>
            <a:srgbClr val="B3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5120640" cy="8275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66360" y="1371600"/>
            <a:ext cx="6537960" cy="8275320"/>
          </a:xfrm>
          <a:prstGeom prst="rect">
            <a:avLst/>
          </a:prstGeom>
          <a:solidFill>
            <a:srgbClr val="2E53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750040" y="1371600"/>
            <a:ext cx="6537960" cy="8275320"/>
          </a:xfrm>
          <a:prstGeom prst="rect">
            <a:avLst/>
          </a:prstGeom>
          <a:solidFill>
            <a:srgbClr val="2E53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9674352"/>
            <a:ext cx="18288000" cy="612648"/>
          </a:xfrm>
          <a:prstGeom prst="rect">
            <a:avLst/>
          </a:prstGeom>
          <a:solidFill>
            <a:srgbClr val="091A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38928" y="1371600"/>
            <a:ext cx="27432" cy="8275320"/>
          </a:xfrm>
          <a:prstGeom prst="rect">
            <a:avLst/>
          </a:prstGeom>
          <a:solidFill>
            <a:srgbClr val="1A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722608" y="1371600"/>
            <a:ext cx="27432" cy="8275320"/>
          </a:xfrm>
          <a:prstGeom prst="rect">
            <a:avLst/>
          </a:prstGeom>
          <a:solidFill>
            <a:srgbClr val="1A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298448"/>
            <a:ext cx="18288000" cy="36576"/>
          </a:xfrm>
          <a:prstGeom prst="rect">
            <a:avLst/>
          </a:prstGeom>
          <a:solidFill>
            <a:srgbClr val="2E53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73152"/>
            <a:ext cx="4389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MIT SCHOOL OF COMPUTING</a:t>
            </a:r>
          </a:p>
          <a:p>
            <a:pPr algn="l"/>
            <a:r>
              <a:rPr sz="800" b="1" i="0">
                <a:solidFill>
                  <a:srgbClr val="2E5395"/>
                </a:solidFill>
              </a:rPr>
              <a:t>DEPARTMENT OF INFORMATION TECHNOLOGY</a:t>
            </a:r>
          </a:p>
          <a:p>
            <a:pPr algn="l"/>
            <a:r>
              <a:rPr sz="500" b="0" i="0">
                <a:solidFill>
                  <a:srgbClr val="1A1A2E"/>
                </a:solidFill>
              </a:rPr>
              <a:t/>
            </a:r>
          </a:p>
          <a:p>
            <a:pPr algn="l"/>
            <a:r>
              <a:rPr sz="750" b="0" i="0">
                <a:solidFill>
                  <a:srgbClr val="1A1A2E"/>
                </a:solidFill>
              </a:rPr>
              <a:t>Class: TY-SMAD  |  Group ID: LYSMAD05</a:t>
            </a:r>
          </a:p>
          <a:p>
            <a:pPr algn="l"/>
            <a:r>
              <a:rPr sz="750" b="0" i="0">
                <a:solidFill>
                  <a:srgbClr val="1A1A2E"/>
                </a:solidFill>
              </a:rPr>
              <a:t>Guide: Prof. Reetika Kerketta</a:t>
            </a:r>
          </a:p>
          <a:p>
            <a:pPr algn="l"/>
            <a:r>
              <a:rPr sz="750" b="0" i="0">
                <a:solidFill>
                  <a:srgbClr val="1A1A2E"/>
                </a:solidFill>
              </a:rPr>
              <a:t>Academic Year: 2024–25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54864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A1A2E"/>
                </a:solidFill>
              </a:rPr>
              <a:t>Multi-Tenant SaaS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00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2E5395"/>
                </a:solidFill>
              </a:rPr>
              <a:t>One platform. Every business. Only what you need.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9326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1. Poonawala Ibrahim Hussain     2. Mandhare Varad Vikas     3. Tanmay Sudhir Shinde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0" y="137160"/>
            <a:ext cx="4206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1A1A2E"/>
                </a:solidFill>
              </a:rPr>
              <a:t>TY-SMAD  |  2024–25</a:t>
            </a:r>
          </a:p>
          <a:p>
            <a:pPr algn="r"/>
            <a:r>
              <a:rPr sz="800" b="0" i="0">
                <a:solidFill>
                  <a:srgbClr val="1A1A2E"/>
                </a:solidFill>
              </a:rPr>
              <a:t>Node.js  ·  React.js  ·  PostgreSQL</a:t>
            </a:r>
          </a:p>
          <a:p>
            <a:pPr algn="r"/>
            <a:r>
              <a:rPr sz="800" b="0" i="0">
                <a:solidFill>
                  <a:srgbClr val="1A1A2E"/>
                </a:solidFill>
              </a:rPr>
              <a:t>AWS  ·  JWT  ·  RBAC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" y="1444751"/>
            <a:ext cx="4882895" cy="2029968"/>
          </a:xfrm>
          <a:prstGeom prst="rect">
            <a:avLst/>
          </a:prstGeom>
          <a:solidFill>
            <a:srgbClr val="0D1E2E"/>
          </a:solidFill>
          <a:ln w="10160">
            <a:solidFill>
              <a:srgbClr val="3A6A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4592" y="1536192"/>
            <a:ext cx="479145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DE499"/>
                </a:solidFill>
              </a:rPr>
              <a:t>PROBLEM STATEMENT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" y="1719072"/>
            <a:ext cx="4791455" cy="16459"/>
          </a:xfrm>
          <a:prstGeom prst="rect">
            <a:avLst/>
          </a:prstGeom>
          <a:solidFill>
            <a:srgbClr val="FDE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" y="1792224"/>
            <a:ext cx="4791455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0DFF5"/>
                </a:solidFill>
              </a:rPr>
              <a:t>India's 63 million small businesses run on WhatsApp groups, shared Excel files, and paper registers.</a:t>
            </a:r>
          </a:p>
          <a:p>
            <a:pPr algn="l"/>
            <a:r>
              <a:rPr sz="400" b="0" i="0">
                <a:solidFill>
                  <a:srgbClr val="D0DFF5"/>
                </a:solidFill>
              </a:rPr>
              <a:t/>
            </a:r>
          </a:p>
          <a:p>
            <a:pPr algn="l"/>
            <a:r>
              <a:rPr sz="800" b="0" i="0">
                <a:solidFill>
                  <a:srgbClr val="D0DFF5"/>
                </a:solidFill>
              </a:rPr>
              <a:t>Their data is scattered, unsecured, and disconnected. Tools don't talk to each other — a customer exists as separate records in 4 different spreadsheets.</a:t>
            </a:r>
          </a:p>
          <a:p>
            <a:pPr algn="l"/>
            <a:r>
              <a:rPr sz="400" b="0" i="0">
                <a:solidFill>
                  <a:srgbClr val="D0DFF5"/>
                </a:solidFill>
              </a:rPr>
              <a:t/>
            </a:r>
          </a:p>
          <a:p>
            <a:pPr algn="l"/>
            <a:r>
              <a:rPr sz="800" b="0" i="0">
                <a:solidFill>
                  <a:srgbClr val="D0DFF5"/>
                </a:solidFill>
              </a:rPr>
              <a:t>Enterprise tools like Salesforce cost ₹40,000+/month and take months to set up. There is no affordable, simple, all-in-one solution built for them.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" y="3602736"/>
            <a:ext cx="479145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E5395"/>
                </a:solidFill>
              </a:rPr>
              <a:t>USER EMPATHY MAP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592" y="3785615"/>
            <a:ext cx="4791455" cy="16459"/>
          </a:xfrm>
          <a:prstGeom prst="rect">
            <a:avLst/>
          </a:prstGeom>
          <a:solidFill>
            <a:srgbClr val="2E53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64592" y="3858768"/>
            <a:ext cx="2350008" cy="1389888"/>
          </a:xfrm>
          <a:prstGeom prst="rect">
            <a:avLst/>
          </a:prstGeom>
          <a:solidFill>
            <a:srgbClr val="FDE499"/>
          </a:solidFill>
          <a:ln w="6350">
            <a:solidFill>
              <a:srgbClr val="FDC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6032" y="3922776"/>
            <a:ext cx="22128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7A5C00"/>
                </a:solidFill>
              </a:rPr>
              <a:t>💬  SAYS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" y="4133087"/>
            <a:ext cx="221284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1A2E"/>
                </a:solidFill>
              </a:rPr>
              <a:t>"Our stock data is on my manager's laptop."</a:t>
            </a:r>
          </a:p>
          <a:p>
            <a:pPr algn="l"/>
            <a:r>
              <a:rPr sz="300" b="0" i="0">
                <a:solidFill>
                  <a:srgbClr val="1A1A2E"/>
                </a:solidFill>
              </a:rPr>
              <a:t/>
            </a:r>
          </a:p>
          <a:p>
            <a:pPr algn="l"/>
            <a:r>
              <a:rPr sz="750" b="0" i="0">
                <a:solidFill>
                  <a:srgbClr val="1A1A2E"/>
                </a:solidFill>
              </a:rPr>
              <a:t>"We track leads on WhatsApp — it's a mess."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06040" y="3858768"/>
            <a:ext cx="2350008" cy="1389888"/>
          </a:xfrm>
          <a:prstGeom prst="rect">
            <a:avLst/>
          </a:prstGeom>
          <a:solidFill>
            <a:srgbClr val="FFB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97480" y="3922776"/>
            <a:ext cx="22128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6B0040"/>
                </a:solidFill>
              </a:rPr>
              <a:t>❤️  FEELS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97480" y="4133087"/>
            <a:ext cx="221284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1A2E"/>
                </a:solidFill>
              </a:rPr>
              <a:t>Frustrated by constant data loss and confusion.</a:t>
            </a:r>
          </a:p>
          <a:p>
            <a:pPr algn="l"/>
            <a:r>
              <a:rPr sz="300" b="0" i="0">
                <a:solidFill>
                  <a:srgbClr val="1A1A2E"/>
                </a:solidFill>
              </a:rPr>
              <a:t/>
            </a:r>
          </a:p>
          <a:p>
            <a:pPr algn="l"/>
            <a:r>
              <a:rPr sz="750" b="0" i="0">
                <a:solidFill>
                  <a:srgbClr val="1A1A2E"/>
                </a:solidFill>
              </a:rPr>
              <a:t>Anxious about scaling with no proper system.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4592" y="5340096"/>
            <a:ext cx="2350008" cy="1389888"/>
          </a:xfrm>
          <a:prstGeom prst="rect">
            <a:avLst/>
          </a:prstGeom>
          <a:solidFill>
            <a:srgbClr val="A5D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6032" y="5404104"/>
            <a:ext cx="22128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A4A4E"/>
                </a:solidFill>
              </a:rPr>
              <a:t>💭  THINKS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" y="5614416"/>
            <a:ext cx="221284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1A2E"/>
                </a:solidFill>
              </a:rPr>
              <a:t>"There must be a better way but it's too expensive."</a:t>
            </a:r>
          </a:p>
          <a:p>
            <a:pPr algn="l"/>
            <a:r>
              <a:rPr sz="300" b="0" i="0">
                <a:solidFill>
                  <a:srgbClr val="1A1A2E"/>
                </a:solidFill>
              </a:rPr>
              <a:t/>
            </a:r>
          </a:p>
          <a:p>
            <a:pPr algn="l"/>
            <a:r>
              <a:rPr sz="750" b="0" i="0">
                <a:solidFill>
                  <a:srgbClr val="1A1A2E"/>
                </a:solidFill>
              </a:rPr>
              <a:t>"I don't have time to learn complex software."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06040" y="5340096"/>
            <a:ext cx="2350008" cy="1389888"/>
          </a:xfrm>
          <a:prstGeom prst="rect">
            <a:avLst/>
          </a:prstGeom>
          <a:solidFill>
            <a:srgbClr val="D0B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97480" y="5404104"/>
            <a:ext cx="22128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D1A7A"/>
                </a:solidFill>
              </a:rPr>
              <a:t>🖐  DOES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97480" y="5614416"/>
            <a:ext cx="221284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1A2E"/>
                </a:solidFill>
              </a:rPr>
              <a:t>Maintains 4–5 disconnected spreadsheets.</a:t>
            </a:r>
          </a:p>
          <a:p>
            <a:pPr algn="l"/>
            <a:r>
              <a:rPr sz="300" b="0" i="0">
                <a:solidFill>
                  <a:srgbClr val="1A1A2E"/>
                </a:solidFill>
              </a:rPr>
              <a:t/>
            </a:r>
          </a:p>
          <a:p>
            <a:pPr algn="l"/>
            <a:r>
              <a:rPr sz="750" b="0" i="0">
                <a:solidFill>
                  <a:srgbClr val="1A1A2E"/>
                </a:solidFill>
              </a:rPr>
              <a:t>Uses WhatsApp for operations and customer support.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8872" y="6821424"/>
            <a:ext cx="4882895" cy="1481328"/>
          </a:xfrm>
          <a:prstGeom prst="rect">
            <a:avLst/>
          </a:prstGeom>
          <a:solidFill>
            <a:srgbClr val="EEF2FA"/>
          </a:solidFill>
          <a:ln w="6350">
            <a:solidFill>
              <a:srgbClr val="C5D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4592" y="6912864"/>
            <a:ext cx="479145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E5395"/>
                </a:solidFill>
              </a:rPr>
              <a:t>SCOPE &amp; FEASIBILITY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" y="7095744"/>
            <a:ext cx="4791455" cy="16459"/>
          </a:xfrm>
          <a:prstGeom prst="rect">
            <a:avLst/>
          </a:prstGeom>
          <a:solidFill>
            <a:srgbClr val="2E53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64592" y="7168896"/>
            <a:ext cx="4791455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44"/>
                </a:solidFill>
              </a:rPr>
              <a:t>Technically feasible using proven technologies — React.js frontend, Node.js + Express backend, PostgreSQL with tenant-scoped queries, and AWS for hosting.</a:t>
            </a:r>
          </a:p>
          <a:p>
            <a:pPr algn="l"/>
            <a:r>
              <a:rPr sz="400" b="0" i="0">
                <a:solidFill>
                  <a:srgbClr val="1A1A2E"/>
                </a:solidFill>
              </a:rPr>
              <a:t/>
            </a:r>
          </a:p>
          <a:p>
            <a:pPr algn="l"/>
            <a:r>
              <a:rPr sz="800" b="0" i="0">
                <a:solidFill>
                  <a:srgbClr val="333344"/>
                </a:solidFill>
              </a:rPr>
              <a:t>MVP covers 4 modules for Indian SMBs. Architecture supports future expansion: additional modules, third-party marketplace, and white-labeling.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30952" y="1536192"/>
            <a:ext cx="62087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DE499"/>
                </a:solidFill>
              </a:rPr>
              <a:t>IDEATION — KEY OBJECTIVES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30952" y="1719072"/>
            <a:ext cx="6208776" cy="16459"/>
          </a:xfrm>
          <a:prstGeom prst="rect">
            <a:avLst/>
          </a:prstGeom>
          <a:solidFill>
            <a:srgbClr val="FDE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330952" y="1810512"/>
            <a:ext cx="237744" cy="237744"/>
          </a:xfrm>
          <a:prstGeom prst="ellipse">
            <a:avLst/>
          </a:prstGeom>
          <a:solidFill>
            <a:srgbClr val="FDE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1A1A2E"/>
                </a:solidFill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32704" y="1792224"/>
            <a:ext cx="59070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Multi-Tenant Workspaces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32704" y="1975104"/>
            <a:ext cx="59070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0DFF5"/>
                </a:solidFill>
              </a:rPr>
              <a:t>Every business gets a fully isolated workspace with its own subdomain (acme.platform.com). Data is scoped at the database level — no business can ever see another's data.</a:t>
            </a:r>
          </a:p>
        </p:txBody>
      </p:sp>
      <p:sp>
        <p:nvSpPr>
          <p:cNvPr id="42" name="Oval 41"/>
          <p:cNvSpPr/>
          <p:nvPr/>
        </p:nvSpPr>
        <p:spPr>
          <a:xfrm>
            <a:off x="5330952" y="2322576"/>
            <a:ext cx="237744" cy="237744"/>
          </a:xfrm>
          <a:prstGeom prst="ellipse">
            <a:avLst/>
          </a:prstGeom>
          <a:solidFill>
            <a:srgbClr val="FDE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1A1A2E"/>
                </a:solidFill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32704" y="2304288"/>
            <a:ext cx="59070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Plug-and-Play Module System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32704" y="2487168"/>
            <a:ext cx="59070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0DFF5"/>
                </a:solidFill>
              </a:rPr>
              <a:t>Businesses activate only what they need: CRM, Inventory, HRMS, or HelpDesk. Unused modules stay off. Data is preserved when reactivated.</a:t>
            </a:r>
          </a:p>
        </p:txBody>
      </p:sp>
      <p:sp>
        <p:nvSpPr>
          <p:cNvPr id="45" name="Oval 44"/>
          <p:cNvSpPr/>
          <p:nvPr/>
        </p:nvSpPr>
        <p:spPr>
          <a:xfrm>
            <a:off x="5330952" y="2834640"/>
            <a:ext cx="237744" cy="237744"/>
          </a:xfrm>
          <a:prstGeom prst="ellipse">
            <a:avLst/>
          </a:prstGeom>
          <a:solidFill>
            <a:srgbClr val="FDE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1A1A2E"/>
                </a:solidFill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32704" y="2816352"/>
            <a:ext cx="59070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Role-Based Access Control (RBAC)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32704" y="2999232"/>
            <a:ext cx="59070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0DFF5"/>
                </a:solidFill>
              </a:rPr>
              <a:t>Four roles: Owner → Admin → Manager → Staff. Enforced at the API middleware level on every request — not just hidden in the UI.</a:t>
            </a:r>
          </a:p>
        </p:txBody>
      </p:sp>
      <p:sp>
        <p:nvSpPr>
          <p:cNvPr id="48" name="Oval 47"/>
          <p:cNvSpPr/>
          <p:nvPr/>
        </p:nvSpPr>
        <p:spPr>
          <a:xfrm>
            <a:off x="5330952" y="3346704"/>
            <a:ext cx="237744" cy="237744"/>
          </a:xfrm>
          <a:prstGeom prst="ellipse">
            <a:avLst/>
          </a:prstGeom>
          <a:solidFill>
            <a:srgbClr val="FDE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1A1A2E"/>
                </a:solidFill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32704" y="3328416"/>
            <a:ext cx="59070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Unified Data Across Modules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32704" y="3511296"/>
            <a:ext cx="59070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0DFF5"/>
                </a:solidFill>
              </a:rPr>
              <a:t>All modules share one database. A contact in CRM is the same record linked in HelpDesk. No more reconciling data across disconnected tools.</a:t>
            </a:r>
          </a:p>
        </p:txBody>
      </p:sp>
      <p:sp>
        <p:nvSpPr>
          <p:cNvPr id="51" name="Oval 50"/>
          <p:cNvSpPr/>
          <p:nvPr/>
        </p:nvSpPr>
        <p:spPr>
          <a:xfrm>
            <a:off x="5330952" y="3858768"/>
            <a:ext cx="237744" cy="237744"/>
          </a:xfrm>
          <a:prstGeom prst="ellipse">
            <a:avLst/>
          </a:prstGeom>
          <a:solidFill>
            <a:srgbClr val="FDE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1A1A2E"/>
                </a:solidFill>
              </a:rP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32704" y="3840480"/>
            <a:ext cx="59070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Affordable &amp; Instant Setup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32704" y="4023360"/>
            <a:ext cx="59070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0DFF5"/>
                </a:solidFill>
              </a:rPr>
              <a:t>Freemium model. No per-user pricing trap. A business can sign up and be fully operational in under 10 minutes.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30952" y="4398264"/>
            <a:ext cx="6208776" cy="164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30952" y="4517136"/>
            <a:ext cx="62087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DE499"/>
                </a:solidFill>
              </a:rPr>
              <a:t>PLATFORM MODULES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30952" y="4700016"/>
            <a:ext cx="6208776" cy="16459"/>
          </a:xfrm>
          <a:prstGeom prst="rect">
            <a:avLst/>
          </a:prstGeom>
          <a:solidFill>
            <a:srgbClr val="FDE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330952" y="4773168"/>
            <a:ext cx="3049524" cy="603504"/>
          </a:xfrm>
          <a:prstGeom prst="rect">
            <a:avLst/>
          </a:prstGeom>
          <a:solidFill>
            <a:srgbClr val="1E415F"/>
          </a:solidFill>
          <a:ln w="381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330952" y="4773168"/>
            <a:ext cx="36576" cy="603504"/>
          </a:xfrm>
          <a:prstGeom prst="rect">
            <a:avLst/>
          </a:prstGeom>
          <a:solidFill>
            <a:srgbClr val="FDE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22392" y="4837176"/>
            <a:ext cx="29215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DE499"/>
                </a:solidFill>
              </a:rPr>
              <a:t>📊  CRM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22392" y="5047488"/>
            <a:ext cx="29215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D0DFF5"/>
                </a:solidFill>
              </a:rPr>
              <a:t>Leads, contacts, deals &amp; sales pipeline for sales teams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90204" y="4773168"/>
            <a:ext cx="3049524" cy="603504"/>
          </a:xfrm>
          <a:prstGeom prst="rect">
            <a:avLst/>
          </a:prstGeom>
          <a:solidFill>
            <a:srgbClr val="F9FAD9"/>
          </a:solidFill>
          <a:ln w="381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490204" y="4773168"/>
            <a:ext cx="36576" cy="603504"/>
          </a:xfrm>
          <a:prstGeom prst="rect">
            <a:avLst/>
          </a:prstGeom>
          <a:solidFill>
            <a:srgbClr val="FDE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81644" y="4837176"/>
            <a:ext cx="29215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5395"/>
                </a:solidFill>
              </a:rPr>
              <a:t>📦  Inventory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81644" y="5047488"/>
            <a:ext cx="29215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33344"/>
                </a:solidFill>
              </a:rPr>
              <a:t>Products, stock levels, orders &amp; supplier management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30952" y="5431536"/>
            <a:ext cx="3049524" cy="603504"/>
          </a:xfrm>
          <a:prstGeom prst="rect">
            <a:avLst/>
          </a:prstGeom>
          <a:solidFill>
            <a:srgbClr val="F9FAD9"/>
          </a:solidFill>
          <a:ln w="381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330952" y="5431536"/>
            <a:ext cx="36576" cy="603504"/>
          </a:xfrm>
          <a:prstGeom prst="rect">
            <a:avLst/>
          </a:prstGeom>
          <a:solidFill>
            <a:srgbClr val="FDE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22392" y="5495544"/>
            <a:ext cx="29215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5395"/>
                </a:solidFill>
              </a:rPr>
              <a:t>👥  HRMS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22392" y="5705855"/>
            <a:ext cx="29215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33344"/>
                </a:solidFill>
              </a:rPr>
              <a:t>Employees, attendance, leave management &amp; payroll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90204" y="5431536"/>
            <a:ext cx="3049524" cy="603504"/>
          </a:xfrm>
          <a:prstGeom prst="rect">
            <a:avLst/>
          </a:prstGeom>
          <a:solidFill>
            <a:srgbClr val="1E415F"/>
          </a:solidFill>
          <a:ln w="381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490204" y="5431536"/>
            <a:ext cx="36576" cy="603504"/>
          </a:xfrm>
          <a:prstGeom prst="rect">
            <a:avLst/>
          </a:prstGeom>
          <a:solidFill>
            <a:srgbClr val="FDE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581644" y="5495544"/>
            <a:ext cx="29215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DE499"/>
                </a:solidFill>
              </a:rPr>
              <a:t>🎫  HelpDesk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581644" y="5705855"/>
            <a:ext cx="29215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D0DFF5"/>
                </a:solidFill>
              </a:rPr>
              <a:t>Support tickets, agent assignment &amp; resolution tracking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330952" y="6208776"/>
            <a:ext cx="6208776" cy="164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330952" y="6327648"/>
            <a:ext cx="62087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DE499"/>
                </a:solidFill>
              </a:rPr>
              <a:t>ROLE-BASED ACCESS CONTROL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330952" y="6510528"/>
            <a:ext cx="6208776" cy="16459"/>
          </a:xfrm>
          <a:prstGeom prst="rect">
            <a:avLst/>
          </a:prstGeom>
          <a:solidFill>
            <a:srgbClr val="FDE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330952" y="6583680"/>
            <a:ext cx="868680" cy="228600"/>
          </a:xfrm>
          <a:prstGeom prst="rect">
            <a:avLst/>
          </a:prstGeom>
          <a:solidFill>
            <a:srgbClr val="FDE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7A5C00"/>
                </a:solidFill>
              </a:rPr>
              <a:t>Owner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63640" y="6601968"/>
            <a:ext cx="5257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0DFF5"/>
                </a:solidFill>
              </a:rPr>
              <a:t>Full control — billing, workspace deletion, all settings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330952" y="6876288"/>
            <a:ext cx="868680" cy="228600"/>
          </a:xfrm>
          <a:prstGeom prst="rect">
            <a:avLst/>
          </a:prstGeom>
          <a:solidFill>
            <a:srgbClr val="FF9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</a:rPr>
              <a:t>Admin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63640" y="6894576"/>
            <a:ext cx="5257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0DFF5"/>
                </a:solidFill>
              </a:rPr>
              <a:t>Manage members, activate modules, all operational access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330952" y="7168896"/>
            <a:ext cx="868680" cy="228600"/>
          </a:xfrm>
          <a:prstGeom prst="rect">
            <a:avLst/>
          </a:prstGeom>
          <a:solidFill>
            <a:srgbClr val="A5D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A4A4E"/>
                </a:solidFill>
              </a:rPr>
              <a:t>Manager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63640" y="7187184"/>
            <a:ext cx="5257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0DFF5"/>
                </a:solidFill>
              </a:rPr>
              <a:t>Approve leaves, assign tickets, manage within module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30952" y="7461504"/>
            <a:ext cx="868680" cy="228600"/>
          </a:xfrm>
          <a:prstGeom prst="rect">
            <a:avLst/>
          </a:prstGeom>
          <a:solidFill>
            <a:srgbClr val="D0B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D1A7A"/>
                </a:solidFill>
              </a:rPr>
              <a:t>Staff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263640" y="7479792"/>
            <a:ext cx="5257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0DFF5"/>
                </a:solidFill>
              </a:rPr>
              <a:t>Day-to-day work — create &amp; update records, cannot delete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914632" y="1536192"/>
            <a:ext cx="62087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DE499"/>
                </a:solidFill>
              </a:rPr>
              <a:t>APP FLOW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1914632" y="1719072"/>
            <a:ext cx="6208776" cy="16459"/>
          </a:xfrm>
          <a:prstGeom prst="rect">
            <a:avLst/>
          </a:prstGeom>
          <a:solidFill>
            <a:srgbClr val="FDE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1914632" y="1810512"/>
            <a:ext cx="237744" cy="237744"/>
          </a:xfrm>
          <a:prstGeom prst="ellipse">
            <a:avLst/>
          </a:prstGeom>
          <a:solidFill>
            <a:srgbClr val="FDE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1A1A2E"/>
                </a:solidFill>
              </a:rPr>
              <a:t>01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216384" y="1792224"/>
            <a:ext cx="59070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Sign Up &amp; Create Workspace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216384" y="1975104"/>
            <a:ext cx="59070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0DFF5"/>
                </a:solidFill>
              </a:rPr>
              <a:t>Business owner registers → isolated workspace created with unique subdomain instantly.</a:t>
            </a:r>
          </a:p>
        </p:txBody>
      </p:sp>
      <p:sp>
        <p:nvSpPr>
          <p:cNvPr id="89" name="Oval 88"/>
          <p:cNvSpPr/>
          <p:nvPr/>
        </p:nvSpPr>
        <p:spPr>
          <a:xfrm>
            <a:off x="11914632" y="2322576"/>
            <a:ext cx="237744" cy="237744"/>
          </a:xfrm>
          <a:prstGeom prst="ellipse">
            <a:avLst/>
          </a:prstGeom>
          <a:solidFill>
            <a:srgbClr val="FDE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1A1A2E"/>
                </a:solidFill>
              </a:rPr>
              <a:t>02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2216384" y="2304288"/>
            <a:ext cx="59070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Activate Modules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2216384" y="2487168"/>
            <a:ext cx="59070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0DFF5"/>
                </a:solidFill>
              </a:rPr>
              <a:t>Toggle on CRM, Inventory, HRMS, or HelpDesk from workspace settings. Only pay for what you use.</a:t>
            </a:r>
          </a:p>
        </p:txBody>
      </p:sp>
      <p:sp>
        <p:nvSpPr>
          <p:cNvPr id="92" name="Oval 91"/>
          <p:cNvSpPr/>
          <p:nvPr/>
        </p:nvSpPr>
        <p:spPr>
          <a:xfrm>
            <a:off x="11914632" y="2834640"/>
            <a:ext cx="237744" cy="237744"/>
          </a:xfrm>
          <a:prstGeom prst="ellipse">
            <a:avLst/>
          </a:prstGeom>
          <a:solidFill>
            <a:srgbClr val="FDE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1A1A2E"/>
                </a:solidFill>
              </a:rPr>
              <a:t>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216384" y="2816352"/>
            <a:ext cx="59070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Invite Team &amp; Assign Roles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2216384" y="2999232"/>
            <a:ext cx="59070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0DFF5"/>
                </a:solidFill>
              </a:rPr>
              <a:t>Send email invites to team members. Assign Owner / Admin / Manager / Staff roles per person.</a:t>
            </a:r>
          </a:p>
        </p:txBody>
      </p:sp>
      <p:sp>
        <p:nvSpPr>
          <p:cNvPr id="95" name="Oval 94"/>
          <p:cNvSpPr/>
          <p:nvPr/>
        </p:nvSpPr>
        <p:spPr>
          <a:xfrm>
            <a:off x="11914632" y="3346704"/>
            <a:ext cx="237744" cy="237744"/>
          </a:xfrm>
          <a:prstGeom prst="ellipse">
            <a:avLst/>
          </a:prstGeom>
          <a:solidFill>
            <a:srgbClr val="FDE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1A1A2E"/>
                </a:solidFill>
              </a:rPr>
              <a:t>04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2216384" y="3328416"/>
            <a:ext cx="59070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Start Working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2216384" y="3511296"/>
            <a:ext cx="59070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0DFF5"/>
                </a:solidFill>
              </a:rPr>
              <a:t>Sidebar shows only active modules. Every user sees only what their role permits.</a:t>
            </a:r>
          </a:p>
        </p:txBody>
      </p:sp>
      <p:sp>
        <p:nvSpPr>
          <p:cNvPr id="98" name="Oval 97"/>
          <p:cNvSpPr/>
          <p:nvPr/>
        </p:nvSpPr>
        <p:spPr>
          <a:xfrm>
            <a:off x="11914632" y="3858768"/>
            <a:ext cx="237744" cy="237744"/>
          </a:xfrm>
          <a:prstGeom prst="ellipse">
            <a:avLst/>
          </a:prstGeom>
          <a:solidFill>
            <a:srgbClr val="FDE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1A1A2E"/>
                </a:solidFill>
              </a:rPr>
              <a:t>05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216384" y="3840480"/>
            <a:ext cx="59070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Full Audit Trail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2216384" y="4023360"/>
            <a:ext cx="59070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0DFF5"/>
                </a:solidFill>
              </a:rPr>
              <a:t>Every action is logged — who created, edited, or deleted what, and when. Data stays in the cloud.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1914632" y="4398264"/>
            <a:ext cx="6208776" cy="164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1914632" y="4517136"/>
            <a:ext cx="62087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DE499"/>
                </a:solidFill>
              </a:rPr>
              <a:t>PROPOSED SOLUTION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1914632" y="4700016"/>
            <a:ext cx="6208776" cy="16459"/>
          </a:xfrm>
          <a:prstGeom prst="rect">
            <a:avLst/>
          </a:prstGeom>
          <a:solidFill>
            <a:srgbClr val="FDE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914632" y="4809744"/>
            <a:ext cx="182880" cy="182880"/>
          </a:xfrm>
          <a:prstGeom prst="ellipse">
            <a:avLst/>
          </a:prstGeom>
          <a:solidFill>
            <a:srgbClr val="FDE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1A1A2E"/>
                </a:solidFill>
              </a:rPr>
              <a:t>✦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170663" y="4773168"/>
            <a:ext cx="59527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Platform, not a product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2170663" y="4956048"/>
            <a:ext cx="5952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0DFF5"/>
                </a:solidFill>
              </a:rPr>
              <a:t>Businesses assemble their own toolset by activating modules — like Shopify apps for their business OS.</a:t>
            </a:r>
          </a:p>
        </p:txBody>
      </p:sp>
      <p:sp>
        <p:nvSpPr>
          <p:cNvPr id="107" name="Oval 106"/>
          <p:cNvSpPr/>
          <p:nvPr/>
        </p:nvSpPr>
        <p:spPr>
          <a:xfrm>
            <a:off x="11914632" y="5303520"/>
            <a:ext cx="182880" cy="182880"/>
          </a:xfrm>
          <a:prstGeom prst="ellipse">
            <a:avLst/>
          </a:prstGeom>
          <a:solidFill>
            <a:srgbClr val="FDE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1A1A2E"/>
                </a:solidFill>
              </a:rPr>
              <a:t>✦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2170663" y="5266944"/>
            <a:ext cx="59527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True data isolation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2170663" y="5449824"/>
            <a:ext cx="5952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0DFF5"/>
                </a:solidFill>
              </a:rPr>
              <a:t>Every query is scoped with tenant_id at the database level, not just the UI layer.</a:t>
            </a:r>
          </a:p>
        </p:txBody>
      </p:sp>
      <p:sp>
        <p:nvSpPr>
          <p:cNvPr id="110" name="Oval 109"/>
          <p:cNvSpPr/>
          <p:nvPr/>
        </p:nvSpPr>
        <p:spPr>
          <a:xfrm>
            <a:off x="11914632" y="5797296"/>
            <a:ext cx="182880" cy="182880"/>
          </a:xfrm>
          <a:prstGeom prst="ellipse">
            <a:avLst/>
          </a:prstGeom>
          <a:solidFill>
            <a:srgbClr val="FDE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1A1A2E"/>
                </a:solidFill>
              </a:rPr>
              <a:t>✦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170663" y="5760720"/>
            <a:ext cx="59527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Middleware-enforced security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2170663" y="5943600"/>
            <a:ext cx="5952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0DFF5"/>
                </a:solidFill>
              </a:rPr>
              <a:t>Auth → Tenant → RBAC → Module checks on every single API request, no exceptions.</a:t>
            </a:r>
          </a:p>
        </p:txBody>
      </p:sp>
      <p:sp>
        <p:nvSpPr>
          <p:cNvPr id="113" name="Oval 112"/>
          <p:cNvSpPr/>
          <p:nvPr/>
        </p:nvSpPr>
        <p:spPr>
          <a:xfrm>
            <a:off x="11914632" y="6291072"/>
            <a:ext cx="182880" cy="182880"/>
          </a:xfrm>
          <a:prstGeom prst="ellipse">
            <a:avLst/>
          </a:prstGeom>
          <a:solidFill>
            <a:srgbClr val="FDE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1A1A2E"/>
                </a:solidFill>
              </a:rPr>
              <a:t>✦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2170663" y="6254496"/>
            <a:ext cx="59527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Freemium pricing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2170663" y="6437376"/>
            <a:ext cx="5952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0DFF5"/>
                </a:solidFill>
              </a:rPr>
              <a:t>Free for small teams, affordable paid plans. No ₹40,000/month Salesforce trap for SMBs.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1914632" y="6793992"/>
            <a:ext cx="6208776" cy="164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1914632" y="6912864"/>
            <a:ext cx="62087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DE499"/>
                </a:solidFill>
              </a:rPr>
              <a:t>TECH STACK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1914632" y="7095744"/>
            <a:ext cx="6208776" cy="16459"/>
          </a:xfrm>
          <a:prstGeom prst="rect">
            <a:avLst/>
          </a:prstGeom>
          <a:solidFill>
            <a:srgbClr val="FDE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1914632" y="7168896"/>
            <a:ext cx="3049524" cy="420624"/>
          </a:xfrm>
          <a:prstGeom prst="rect">
            <a:avLst/>
          </a:prstGeom>
          <a:solidFill>
            <a:srgbClr val="1A3558"/>
          </a:solidFill>
          <a:ln w="3810">
            <a:solidFill>
              <a:srgbClr val="2E53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2006072" y="7205472"/>
            <a:ext cx="292150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FDE499"/>
                </a:solidFill>
              </a:rPr>
              <a:t>FRONTEND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2006072" y="7370064"/>
            <a:ext cx="29215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0DFF5"/>
                </a:solidFill>
              </a:rPr>
              <a:t>React.js + Tailwind CSS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5073884" y="7168896"/>
            <a:ext cx="3049524" cy="420624"/>
          </a:xfrm>
          <a:prstGeom prst="rect">
            <a:avLst/>
          </a:prstGeom>
          <a:solidFill>
            <a:srgbClr val="1A3558"/>
          </a:solidFill>
          <a:ln w="3810">
            <a:solidFill>
              <a:srgbClr val="2E53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5165324" y="7205472"/>
            <a:ext cx="292150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FDE499"/>
                </a:solidFill>
              </a:rPr>
              <a:t>BACKEND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5165324" y="7370064"/>
            <a:ext cx="29215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0DFF5"/>
                </a:solidFill>
              </a:rPr>
              <a:t>Node.js + Express.js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1914632" y="7644383"/>
            <a:ext cx="3049524" cy="420624"/>
          </a:xfrm>
          <a:prstGeom prst="rect">
            <a:avLst/>
          </a:prstGeom>
          <a:solidFill>
            <a:srgbClr val="1A3558"/>
          </a:solidFill>
          <a:ln w="3810">
            <a:solidFill>
              <a:srgbClr val="2E53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2006072" y="7680959"/>
            <a:ext cx="292150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FDE499"/>
                </a:solidFill>
              </a:rPr>
              <a:t>DATABASE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2006072" y="7845552"/>
            <a:ext cx="29215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0DFF5"/>
                </a:solidFill>
              </a:rPr>
              <a:t>PostgreSQL (tenant_id scoped)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5073884" y="7644383"/>
            <a:ext cx="3049524" cy="420624"/>
          </a:xfrm>
          <a:prstGeom prst="rect">
            <a:avLst/>
          </a:prstGeom>
          <a:solidFill>
            <a:srgbClr val="1A3558"/>
          </a:solidFill>
          <a:ln w="3810">
            <a:solidFill>
              <a:srgbClr val="2E53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5165324" y="7680959"/>
            <a:ext cx="292150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FDE499"/>
                </a:solidFill>
              </a:rPr>
              <a:t>AUTH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5165324" y="7845552"/>
            <a:ext cx="29215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0DFF5"/>
                </a:solidFill>
              </a:rPr>
              <a:t>JWT + Refresh Tokens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1914632" y="8119871"/>
            <a:ext cx="3049524" cy="420624"/>
          </a:xfrm>
          <a:prstGeom prst="rect">
            <a:avLst/>
          </a:prstGeom>
          <a:solidFill>
            <a:srgbClr val="1A3558"/>
          </a:solidFill>
          <a:ln w="3810">
            <a:solidFill>
              <a:srgbClr val="2E53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006072" y="8156447"/>
            <a:ext cx="292150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FDE499"/>
                </a:solidFill>
              </a:rPr>
              <a:t>HOSTING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006072" y="8321040"/>
            <a:ext cx="29215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0DFF5"/>
                </a:solidFill>
              </a:rPr>
              <a:t>AWS EC2 + RDS + S3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5073884" y="8119871"/>
            <a:ext cx="3049524" cy="420624"/>
          </a:xfrm>
          <a:prstGeom prst="rect">
            <a:avLst/>
          </a:prstGeom>
          <a:solidFill>
            <a:srgbClr val="1A3558"/>
          </a:solidFill>
          <a:ln w="3810">
            <a:solidFill>
              <a:srgbClr val="2E53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5165324" y="8156447"/>
            <a:ext cx="292150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FDE499"/>
                </a:solidFill>
              </a:rPr>
              <a:t>SECURITY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5165324" y="8321040"/>
            <a:ext cx="29215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0DFF5"/>
                </a:solidFill>
              </a:rPr>
              <a:t>Custom RBAC Middleware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74320" y="9838944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A9CC0"/>
                </a:solidFill>
              </a:rPr>
              <a:t>MIT School of Computing  |  Dept. of Information Technology  |  TY-SMAD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217920" y="9838944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DE499"/>
                </a:solidFill>
              </a:rPr>
              <a:t>Multi-Tenant SaaS Platform  ·  Group LYSMAD05  ·  2024–25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252960" y="9838944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7A9CC0"/>
                </a:solidFill>
              </a:rPr>
              <a:t>Guide: Prof. Reetika Kerketta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